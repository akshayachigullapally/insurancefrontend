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d26d515-6c09-779a-032f-886e4642b85c}">
          <p14:sldIdLst>
            <p14:sldId id="256"/>
            <p14:sldId id="257"/>
          </p14:sldIdLst>
        </p14:section>
        <p14:section name="Business &amp; Requirements" id="{d66fbfcf-4cdd-e7aa-c8cb-0ca58ead81b5}">
          <p14:sldIdLst>
            <p14:sldId id="258"/>
            <p14:sldId id="259"/>
            <p14:sldId id="260"/>
          </p14:sldIdLst>
        </p14:section>
        <p14:section name="Architecture &amp; Microservices" id="{ab4c7fb9-1e99-b547-2bef-e54db8dd6910}">
          <p14:sldIdLst>
            <p14:sldId id="261"/>
            <p14:sldId id="262"/>
          </p14:sldIdLst>
        </p14:section>
        <p14:section name="Frontend – Angular" id="{1c64e6c8-7a84-1532-d0c5-dae23775e662}">
          <p14:sldIdLst>
            <p14:sldId id="263"/>
            <p14:sldId id="264"/>
          </p14:sldIdLst>
        </p14:section>
        <p14:section name="Backend – Spring Boot" id="{a0e42ae0-c130-f71b-42b1-6b6e48a50d0d}">
          <p14:sldIdLst>
            <p14:sldId id="265"/>
            <p14:sldId id="266"/>
          </p14:sldIdLst>
        </p14:section>
        <p14:section name="Security, Observability &amp; DB" id="{62cc57de-0ad3-4466-afe6-452649ed126e}">
          <p14:sldIdLst>
            <p14:sldId id="267"/>
            <p14:sldId id="268"/>
          </p14:sldIdLst>
        </p14:section>
        <p14:section name="Testing &amp; Quality" id="{72d59b77-8a34-dfb3-da9b-383fae65ea08}">
          <p14:sldIdLst>
            <p14:sldId id="269"/>
          </p14:sldIdLst>
        </p14:section>
        <p14:section name="Demo, Journeys &amp; Conclusion" id="{b3e49894-b106-599b-6459-869bf0054c31}">
          <p14:sldIdLst>
            <p14:sldId id="270"/>
            <p14:sldId id="271"/>
            <p14:sldId id="272"/>
          </p14:sldIdLst>
        </p14:section>
        <p14:section name="Product screenshots" id="{e6c2989c-1f1d-f2ee-fa22-dca1bb994c68}">
          <p14:sldIdLst>
            <p14:sldId id="273"/>
            <p14:sldId id="274"/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Tables</c:v>
                </c:pt>
              </c:strCache>
            </c:strRef>
          </c:tx>
          <c:spPr>
            <a:solidFill>
              <a:srgbClr val="7A113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7A113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Notification</c:v>
                  </c:pt>
                  <c:pt idx="1">
                    <c:v>Financial</c:v>
                  </c:pt>
                  <c:pt idx="2">
                    <c:v>Trigger</c:v>
                  </c:pt>
                  <c:pt idx="3">
                    <c:v>Claims</c:v>
                  </c:pt>
                  <c:pt idx="4">
                    <c:v>Product</c:v>
                  </c:pt>
                  <c:pt idx="5">
                    <c:v>Auth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6</c:v>
                </c:pt>
                <c:pt idx="2">
                  <c:v>7</c:v>
                </c:pt>
                <c:pt idx="3">
                  <c:v>3</c:v>
                </c:pt>
                <c:pt idx="4">
                  <c:v>6</c:v>
                </c:pt>
                <c:pt idx="5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7A113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5F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Tests</c:v>
                </c:pt>
              </c:strCache>
            </c:strRef>
          </c:tx>
          <c:spPr>
            <a:solidFill>
              <a:srgbClr val="D426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7A113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Auth</c:v>
                  </c:pt>
                  <c:pt idx="1">
                    <c:v>Product</c:v>
                  </c:pt>
                  <c:pt idx="2">
                    <c:v>Claims</c:v>
                  </c:pt>
                  <c:pt idx="3">
                    <c:v>Trigger</c:v>
                  </c:pt>
                  <c:pt idx="4">
                    <c:v>Financial</c:v>
                  </c:pt>
                  <c:pt idx="5">
                    <c:v>Notification</c:v>
                  </c:pt>
                  <c:pt idx="6">
                    <c:v>Gateway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105</c:v>
                </c:pt>
                <c:pt idx="1">
                  <c:v>107</c:v>
                </c:pt>
                <c:pt idx="2">
                  <c:v>94</c:v>
                </c:pt>
                <c:pt idx="3">
                  <c:v>54</c:v>
                </c:pt>
                <c:pt idx="4">
                  <c:v>110</c:v>
                </c:pt>
                <c:pt idx="5">
                  <c:v>102</c:v>
                </c:pt>
                <c:pt idx="6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7A113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5F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FE3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project: ClimateSure, a parametric insurance platform where claims are created automatically from measured weather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parametric insurance: the payout is linked to a measurable event, so customers do not need to prove the loss.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from left to right: the SPA talks only to the gateway; the gateway validates the JWT and routes to services found in Eureka.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DARK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4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4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ClimateSure  ·  Akshaya Chigullapally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image" Target="../media/image-6-1.png"/><Relationship Id="rId6" Type="http://schemas.openxmlformats.org/officeDocument/2006/relationships/image" Target="../media/image-6-1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14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1.png"/><Relationship Id="rId3" Type="http://schemas.openxmlformats.org/officeDocument/2006/relationships/image" Target="../media/image-17-1.png"/><Relationship Id="rId4" Type="http://schemas.openxmlformats.org/officeDocument/2006/relationships/image" Target="../media/image-17-1.png"/><Relationship Id="rId5" Type="http://schemas.openxmlformats.org/officeDocument/2006/relationships/image" Target="../media/image-17-1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image" Target="../media/image-17-11.png"/><Relationship Id="rId12" Type="http://schemas.openxmlformats.org/officeDocument/2006/relationships/slideLayout" Target="../slideLayouts/slideLayout4.xml"/><Relationship Id="rId1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640080" y="1234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chemeClr val="accent3"/>
                </a:solidFill>
              </a:rPr>
              <a:t>PARAMETRIC INSURANCE PLATFORM</a:t>
            </a:r>
            <a:endParaRPr lang="en-US" sz="1400" dirty="0"/>
          </a:p>
        </p:txBody>
      </p:sp>
      <p:sp>
        <p:nvSpPr>
          <p:cNvPr id="3" name="text-2"/>
          <p:cNvSpPr txBox="1"/>
          <p:nvPr/>
        </p:nvSpPr>
        <p:spPr>
          <a:xfrm>
            <a:off x="640080" y="164592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ClimateSure</a:t>
            </a:r>
            <a:endParaRPr lang="en-US" sz="6600" dirty="0"/>
          </a:p>
        </p:txBody>
      </p:sp>
      <p:sp>
        <p:nvSpPr>
          <p:cNvPr id="4" name="text-3"/>
          <p:cNvSpPr txBox="1"/>
          <p:nvPr/>
        </p:nvSpPr>
        <p:spPr>
          <a:xfrm>
            <a:off x="640080" y="28803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Insurance that pays out when </a:t>
            </a:r>
            <a:pPr indent="0" marL="0">
              <a:buNone/>
            </a:pPr>
            <a:r>
              <a:rPr lang="en-US" sz="2400" b="1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weather turns</a:t>
            </a:r>
            <a:endParaRPr lang="en-US" sz="2400" dirty="0"/>
          </a:p>
        </p:txBody>
      </p:sp>
      <p:sp>
        <p:nvSpPr>
          <p:cNvPr id="5" name="text-4"/>
          <p:cNvSpPr txBox="1"/>
          <p:nvPr/>
        </p:nvSpPr>
        <p:spPr>
          <a:xfrm>
            <a:off x="640080" y="3520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Reactive microservices  ·  Spring Boot 4  ·  Angular 21</a:t>
            </a:r>
            <a:endParaRPr lang="en-US" sz="1500" dirty="0"/>
          </a:p>
        </p:txBody>
      </p:sp>
      <p:sp>
        <p:nvSpPr>
          <p:cNvPr id="6" name="name-card-5"/>
          <p:cNvSpPr/>
          <p:nvPr/>
        </p:nvSpPr>
        <p:spPr>
          <a:xfrm>
            <a:off x="640080" y="4434840"/>
            <a:ext cx="4206240" cy="1051560"/>
          </a:xfrm>
          <a:prstGeom prst="roundRect">
            <a:avLst>
              <a:gd name="adj" fmla="val 10435"/>
            </a:avLst>
          </a:prstGeom>
          <a:solidFill>
            <a:schemeClr val="accent1">
              <a:alpha val="6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-6"/>
          <p:cNvSpPr txBox="1"/>
          <p:nvPr/>
        </p:nvSpPr>
        <p:spPr>
          <a:xfrm>
            <a:off x="914400" y="4590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3"/>
                </a:solidFill>
              </a:rPr>
              <a:t>PRESENTED BY</a:t>
            </a:r>
            <a:endParaRPr lang="en-US" sz="1100" dirty="0"/>
          </a:p>
        </p:txBody>
      </p:sp>
      <p:sp>
        <p:nvSpPr>
          <p:cNvPr id="8" name="text-7"/>
          <p:cNvSpPr txBox="1"/>
          <p:nvPr/>
        </p:nvSpPr>
        <p:spPr>
          <a:xfrm>
            <a:off x="914400" y="48646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Akshaya Chigullapally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2"/>
                </a:solidFill>
              </a:rPr>
              <a:t>AGENDA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presentation covers</a:t>
            </a:r>
            <a:endParaRPr lang="en-US" sz="3200" dirty="0"/>
          </a:p>
        </p:txBody>
      </p:sp>
      <p:sp>
        <p:nvSpPr>
          <p:cNvPr id="4" name="card-8"/>
          <p:cNvSpPr/>
          <p:nvPr/>
        </p:nvSpPr>
        <p:spPr>
          <a:xfrm>
            <a:off x="548640" y="1691640"/>
            <a:ext cx="260604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5" name="icon-bg-9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10" descr="/tmp/claude-0/-home-user/472ad997-b1d8-52e7-b63c-66353a6ff570/scratchpad/deck/assets/icon-shield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125980"/>
            <a:ext cx="320040" cy="320040"/>
          </a:xfrm>
          <a:prstGeom prst="rect">
            <a:avLst/>
          </a:prstGeom>
        </p:spPr>
      </p:pic>
      <p:sp>
        <p:nvSpPr>
          <p:cNvPr id="7" name="text-11"/>
          <p:cNvSpPr txBox="1"/>
          <p:nvPr/>
        </p:nvSpPr>
        <p:spPr>
          <a:xfrm>
            <a:off x="2057400" y="192024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-12"/>
          <p:cNvSpPr txBox="1"/>
          <p:nvPr/>
        </p:nvSpPr>
        <p:spPr>
          <a:xfrm>
            <a:off x="822960" y="28346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&amp; Requirements</a:t>
            </a:r>
            <a:endParaRPr lang="en-US" sz="1700" dirty="0"/>
          </a:p>
        </p:txBody>
      </p:sp>
      <p:sp>
        <p:nvSpPr>
          <p:cNvPr id="9" name="card-13"/>
          <p:cNvSpPr/>
          <p:nvPr/>
        </p:nvSpPr>
        <p:spPr>
          <a:xfrm>
            <a:off x="3383280" y="1691640"/>
            <a:ext cx="2606040" cy="20574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12700">
            <a:solidFill>
              <a:srgbClr val="EAD9DF"/>
            </a:solidFill>
            <a:prstDash val="solid"/>
          </a:ln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10" name="icon-bg-14"/>
          <p:cNvSpPr/>
          <p:nvPr/>
        </p:nvSpPr>
        <p:spPr>
          <a:xfrm>
            <a:off x="3657600" y="19659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con-15" descr="/tmp/claude-0/-home-user/472ad997-b1d8-52e7-b63c-66353a6ff570/scratchpad/deck/assets/icon-network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7620" y="2125980"/>
            <a:ext cx="320040" cy="320040"/>
          </a:xfrm>
          <a:prstGeom prst="rect">
            <a:avLst/>
          </a:prstGeom>
        </p:spPr>
      </p:pic>
      <p:sp>
        <p:nvSpPr>
          <p:cNvPr id="12" name="text-16"/>
          <p:cNvSpPr txBox="1"/>
          <p:nvPr/>
        </p:nvSpPr>
        <p:spPr>
          <a:xfrm>
            <a:off x="4892040" y="192024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-17"/>
          <p:cNvSpPr txBox="1"/>
          <p:nvPr/>
        </p:nvSpPr>
        <p:spPr>
          <a:xfrm>
            <a:off x="3657600" y="28346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Microservices</a:t>
            </a:r>
            <a:endParaRPr lang="en-US" sz="1700" dirty="0"/>
          </a:p>
        </p:txBody>
      </p:sp>
      <p:sp>
        <p:nvSpPr>
          <p:cNvPr id="14" name="card-18"/>
          <p:cNvSpPr/>
          <p:nvPr/>
        </p:nvSpPr>
        <p:spPr>
          <a:xfrm>
            <a:off x="6217920" y="1691640"/>
            <a:ext cx="260604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15" name="icon-bg-19"/>
          <p:cNvSpPr/>
          <p:nvPr/>
        </p:nvSpPr>
        <p:spPr>
          <a:xfrm>
            <a:off x="6492240" y="1965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-20" descr="/tmp/claude-0/-home-user/472ad997-b1d8-52e7-b63c-66353a6ff570/scratchpad/deck/assets/icon-code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260" y="2125980"/>
            <a:ext cx="320040" cy="320040"/>
          </a:xfrm>
          <a:prstGeom prst="rect">
            <a:avLst/>
          </a:prstGeom>
        </p:spPr>
      </p:pic>
      <p:sp>
        <p:nvSpPr>
          <p:cNvPr id="17" name="text-21"/>
          <p:cNvSpPr txBox="1"/>
          <p:nvPr/>
        </p:nvSpPr>
        <p:spPr>
          <a:xfrm>
            <a:off x="7726680" y="192024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text-22"/>
          <p:cNvSpPr txBox="1"/>
          <p:nvPr/>
        </p:nvSpPr>
        <p:spPr>
          <a:xfrm>
            <a:off x="6492240" y="28346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– Angular</a:t>
            </a:r>
            <a:endParaRPr lang="en-US" sz="1700" dirty="0"/>
          </a:p>
        </p:txBody>
      </p:sp>
      <p:sp>
        <p:nvSpPr>
          <p:cNvPr id="19" name="card-23"/>
          <p:cNvSpPr/>
          <p:nvPr/>
        </p:nvSpPr>
        <p:spPr>
          <a:xfrm>
            <a:off x="9052560" y="1691640"/>
            <a:ext cx="2606040" cy="20574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12700">
            <a:solidFill>
              <a:srgbClr val="EAD9DF"/>
            </a:solidFill>
            <a:prstDash val="solid"/>
          </a:ln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20" name="icon-bg-24"/>
          <p:cNvSpPr/>
          <p:nvPr/>
        </p:nvSpPr>
        <p:spPr>
          <a:xfrm>
            <a:off x="9326880" y="19659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icon-25" descr="/tmp/claude-0/-home-user/472ad997-b1d8-52e7-b63c-66353a6ff570/scratchpad/deck/assets/icon-server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900" y="2125980"/>
            <a:ext cx="320040" cy="320040"/>
          </a:xfrm>
          <a:prstGeom prst="rect">
            <a:avLst/>
          </a:prstGeom>
        </p:spPr>
      </p:pic>
      <p:sp>
        <p:nvSpPr>
          <p:cNvPr id="22" name="text-26"/>
          <p:cNvSpPr txBox="1"/>
          <p:nvPr/>
        </p:nvSpPr>
        <p:spPr>
          <a:xfrm>
            <a:off x="10561320" y="192024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23" name="text-27"/>
          <p:cNvSpPr txBox="1"/>
          <p:nvPr/>
        </p:nvSpPr>
        <p:spPr>
          <a:xfrm>
            <a:off x="9326880" y="28346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– Spring Boot</a:t>
            </a:r>
            <a:endParaRPr lang="en-US" sz="1700" dirty="0"/>
          </a:p>
        </p:txBody>
      </p:sp>
      <p:sp>
        <p:nvSpPr>
          <p:cNvPr id="24" name="card-28"/>
          <p:cNvSpPr/>
          <p:nvPr/>
        </p:nvSpPr>
        <p:spPr>
          <a:xfrm>
            <a:off x="548640" y="4023360"/>
            <a:ext cx="260604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25" name="icon-bg-29"/>
          <p:cNvSpPr/>
          <p:nvPr/>
        </p:nvSpPr>
        <p:spPr>
          <a:xfrm>
            <a:off x="822960" y="42976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con-30" descr="/tmp/claude-0/-home-user/472ad997-b1d8-52e7-b63c-66353a6ff570/scratchpad/deck/assets/icon-lock-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" y="4457700"/>
            <a:ext cx="320040" cy="320040"/>
          </a:xfrm>
          <a:prstGeom prst="rect">
            <a:avLst/>
          </a:prstGeom>
        </p:spPr>
      </p:pic>
      <p:sp>
        <p:nvSpPr>
          <p:cNvPr id="27" name="text-31"/>
          <p:cNvSpPr txBox="1"/>
          <p:nvPr/>
        </p:nvSpPr>
        <p:spPr>
          <a:xfrm>
            <a:off x="2057400" y="425196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8" name="text-32"/>
          <p:cNvSpPr txBox="1"/>
          <p:nvPr/>
        </p:nvSpPr>
        <p:spPr>
          <a:xfrm>
            <a:off x="822960" y="51663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Security, Observability &amp; DB</a:t>
            </a:r>
            <a:endParaRPr lang="en-US" sz="1700" dirty="0"/>
          </a:p>
        </p:txBody>
      </p:sp>
      <p:sp>
        <p:nvSpPr>
          <p:cNvPr id="29" name="card-33"/>
          <p:cNvSpPr/>
          <p:nvPr/>
        </p:nvSpPr>
        <p:spPr>
          <a:xfrm>
            <a:off x="3383280" y="4023360"/>
            <a:ext cx="2606040" cy="20574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12700">
            <a:solidFill>
              <a:srgbClr val="EAD9DF"/>
            </a:solidFill>
            <a:prstDash val="solid"/>
          </a:ln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30" name="icon-bg-34"/>
          <p:cNvSpPr/>
          <p:nvPr/>
        </p:nvSpPr>
        <p:spPr>
          <a:xfrm>
            <a:off x="3657600" y="42976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1" name="icon-35" descr="/tmp/claude-0/-home-user/472ad997-b1d8-52e7-b63c-66353a6ff570/scratchpad/deck/assets/icon-flask-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7620" y="4457700"/>
            <a:ext cx="320040" cy="320040"/>
          </a:xfrm>
          <a:prstGeom prst="rect">
            <a:avLst/>
          </a:prstGeom>
        </p:spPr>
      </p:pic>
      <p:sp>
        <p:nvSpPr>
          <p:cNvPr id="32" name="text-36"/>
          <p:cNvSpPr txBox="1"/>
          <p:nvPr/>
        </p:nvSpPr>
        <p:spPr>
          <a:xfrm>
            <a:off x="4892040" y="425196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33" name="text-37"/>
          <p:cNvSpPr txBox="1"/>
          <p:nvPr/>
        </p:nvSpPr>
        <p:spPr>
          <a:xfrm>
            <a:off x="3657600" y="51663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Quality</a:t>
            </a:r>
            <a:endParaRPr lang="en-US" sz="1700" dirty="0"/>
          </a:p>
        </p:txBody>
      </p:sp>
      <p:sp>
        <p:nvSpPr>
          <p:cNvPr id="34" name="card-38"/>
          <p:cNvSpPr/>
          <p:nvPr/>
        </p:nvSpPr>
        <p:spPr>
          <a:xfrm>
            <a:off x="6217920" y="4023360"/>
            <a:ext cx="260604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35" name="icon-bg-39"/>
          <p:cNvSpPr/>
          <p:nvPr/>
        </p:nvSpPr>
        <p:spPr>
          <a:xfrm>
            <a:off x="6492240" y="42976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6" name="icon-40" descr="/tmp/claude-0/-home-user/472ad997-b1d8-52e7-b63c-66353a6ff570/scratchpad/deck/assets/icon-play-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2260" y="4457700"/>
            <a:ext cx="320040" cy="320040"/>
          </a:xfrm>
          <a:prstGeom prst="rect">
            <a:avLst/>
          </a:prstGeom>
        </p:spPr>
      </p:pic>
      <p:sp>
        <p:nvSpPr>
          <p:cNvPr id="37" name="text-41"/>
          <p:cNvSpPr txBox="1"/>
          <p:nvPr/>
        </p:nvSpPr>
        <p:spPr>
          <a:xfrm>
            <a:off x="7726680" y="425196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3000" dirty="0"/>
          </a:p>
        </p:txBody>
      </p:sp>
      <p:sp>
        <p:nvSpPr>
          <p:cNvPr id="38" name="text-42"/>
          <p:cNvSpPr txBox="1"/>
          <p:nvPr/>
        </p:nvSpPr>
        <p:spPr>
          <a:xfrm>
            <a:off x="6492240" y="51663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Demo, Journeys &amp; Conclusion</a:t>
            </a:r>
            <a:endParaRPr lang="en-US" sz="1700" dirty="0"/>
          </a:p>
        </p:txBody>
      </p:sp>
      <p:sp>
        <p:nvSpPr>
          <p:cNvPr id="39" name="card-43"/>
          <p:cNvSpPr/>
          <p:nvPr/>
        </p:nvSpPr>
        <p:spPr>
          <a:xfrm>
            <a:off x="9052560" y="4023360"/>
            <a:ext cx="2606040" cy="20574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12700">
            <a:solidFill>
              <a:srgbClr val="EAD9DF"/>
            </a:solidFill>
            <a:prstDash val="solid"/>
          </a:ln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40" name="icon-bg-44"/>
          <p:cNvSpPr/>
          <p:nvPr/>
        </p:nvSpPr>
        <p:spPr>
          <a:xfrm>
            <a:off x="9326880" y="42976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1" name="icon-45" descr="/tmp/claude-0/-home-user/472ad997-b1d8-52e7-b63c-66353a6ff570/scratchpad/deck/assets/icon-mobile-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86900" y="4457700"/>
            <a:ext cx="320040" cy="320040"/>
          </a:xfrm>
          <a:prstGeom prst="rect">
            <a:avLst/>
          </a:prstGeom>
        </p:spPr>
      </p:pic>
      <p:sp>
        <p:nvSpPr>
          <p:cNvPr id="42" name="text-46"/>
          <p:cNvSpPr txBox="1"/>
          <p:nvPr/>
        </p:nvSpPr>
        <p:spPr>
          <a:xfrm>
            <a:off x="10561320" y="425196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3000" dirty="0"/>
          </a:p>
        </p:txBody>
      </p:sp>
      <p:sp>
        <p:nvSpPr>
          <p:cNvPr id="43" name="text-47"/>
          <p:cNvSpPr txBox="1"/>
          <p:nvPr/>
        </p:nvSpPr>
        <p:spPr>
          <a:xfrm>
            <a:off x="9326880" y="51663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screenshots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2"/>
                </a:solidFill>
              </a:rPr>
              <a:t>BUSINESS CONTEXT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paperwork-driven claims to event-driven payouts</a:t>
            </a:r>
            <a:endParaRPr lang="en-US" sz="3200" dirty="0"/>
          </a:p>
        </p:txBody>
      </p:sp>
      <p:sp>
        <p:nvSpPr>
          <p:cNvPr id="4" name="card-48"/>
          <p:cNvSpPr/>
          <p:nvPr/>
        </p:nvSpPr>
        <p:spPr>
          <a:xfrm>
            <a:off x="548640" y="1691640"/>
            <a:ext cx="5074920" cy="3977640"/>
          </a:xfrm>
          <a:prstGeom prst="roundRect">
            <a:avLst>
              <a:gd name="adj" fmla="val 2759"/>
            </a:avLst>
          </a:prstGeom>
          <a:solidFill>
            <a:schemeClr val="bg1"/>
          </a:solidFill>
          <a:ln w="12700">
            <a:solidFill>
              <a:srgbClr val="EAD9DF"/>
            </a:solidFill>
            <a:prstDash val="solid"/>
          </a:ln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5" name="icon-bg-49"/>
          <p:cNvSpPr/>
          <p:nvPr/>
        </p:nvSpPr>
        <p:spPr>
          <a:xfrm>
            <a:off x="868680" y="2011680"/>
            <a:ext cx="594360" cy="59436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6" name="icon-50" descr="/tmp/claude-0/-home-user/472ad997-b1d8-52e7-b63c-66353a6ff570/scratchpad/deck/assets/icon-hourglass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2160270"/>
            <a:ext cx="297180" cy="297180"/>
          </a:xfrm>
          <a:prstGeom prst="rect">
            <a:avLst/>
          </a:prstGeom>
        </p:spPr>
      </p:pic>
      <p:sp>
        <p:nvSpPr>
          <p:cNvPr id="7" name="text-51"/>
          <p:cNvSpPr txBox="1"/>
          <p:nvPr/>
        </p:nvSpPr>
        <p:spPr>
          <a:xfrm>
            <a:off x="1645920" y="20756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insurance</a:t>
            </a:r>
            <a:endParaRPr lang="en-US" sz="2000" dirty="0"/>
          </a:p>
        </p:txBody>
      </p:sp>
      <p:sp>
        <p:nvSpPr>
          <p:cNvPr id="8" name="bullets-52"/>
          <p:cNvSpPr txBox="1"/>
          <p:nvPr/>
        </p:nvSpPr>
        <p:spPr>
          <a:xfrm>
            <a:off x="914400" y="2926080"/>
            <a:ext cx="43434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chemeClr val="accent6"/>
                </a:solidFill>
              </a:rPr>
              <a:t>Customer files a claim and gathers proof</a:t>
            </a:r>
            <a:endParaRPr lang="en-US" sz="18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chemeClr val="accent6"/>
                </a:solidFill>
              </a:rPr>
              <a:t>Assessor inspects the loss on site</a:t>
            </a:r>
            <a:endParaRPr lang="en-US" sz="18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chemeClr val="accent6"/>
                </a:solidFill>
              </a:rPr>
              <a:t>Weeks of paperwork before a decision</a:t>
            </a:r>
            <a:endParaRPr lang="en-US" sz="18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chemeClr val="accent6"/>
                </a:solidFill>
              </a:rPr>
              <a:t>Outcome can be unclear or disputed</a:t>
            </a:r>
            <a:endParaRPr lang="en-US" sz="1800" dirty="0"/>
          </a:p>
        </p:txBody>
      </p:sp>
      <p:sp>
        <p:nvSpPr>
          <p:cNvPr id="9" name="arrow-53"/>
          <p:cNvSpPr/>
          <p:nvPr/>
        </p:nvSpPr>
        <p:spPr>
          <a:xfrm>
            <a:off x="5806440" y="3406140"/>
            <a:ext cx="548640" cy="54864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0" name="card-54"/>
          <p:cNvSpPr/>
          <p:nvPr/>
        </p:nvSpPr>
        <p:spPr>
          <a:xfrm>
            <a:off x="6537960" y="1691640"/>
            <a:ext cx="5074920" cy="3977640"/>
          </a:xfrm>
          <a:prstGeom prst="roundRect">
            <a:avLst>
              <a:gd name="adj" fmla="val 2759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11" name="icon-bg-55"/>
          <p:cNvSpPr/>
          <p:nvPr/>
        </p:nvSpPr>
        <p:spPr>
          <a:xfrm>
            <a:off x="6858000" y="201168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con-56" descr="/tmp/claude-0/-home-user/472ad997-b1d8-52e7-b63c-66353a6ff570/scratchpad/deck/assets/icon-bolt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6590" y="2160270"/>
            <a:ext cx="297180" cy="297180"/>
          </a:xfrm>
          <a:prstGeom prst="rect">
            <a:avLst/>
          </a:prstGeom>
        </p:spPr>
      </p:pic>
      <p:sp>
        <p:nvSpPr>
          <p:cNvPr id="13" name="text-57"/>
          <p:cNvSpPr txBox="1"/>
          <p:nvPr/>
        </p:nvSpPr>
        <p:spPr>
          <a:xfrm>
            <a:off x="7635240" y="20756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ClimateSure (parametric)</a:t>
            </a:r>
            <a:endParaRPr lang="en-US" sz="2000" dirty="0"/>
          </a:p>
        </p:txBody>
      </p:sp>
      <p:sp>
        <p:nvSpPr>
          <p:cNvPr id="14" name="bullets-58"/>
          <p:cNvSpPr txBox="1"/>
          <p:nvPr/>
        </p:nvSpPr>
        <p:spPr>
          <a:xfrm>
            <a:off x="6903720" y="2926080"/>
            <a:ext cx="43434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 measured index (rainfall, river level, temperature…) is the trigger</a:t>
            </a:r>
            <a:endParaRPr lang="en-US" sz="18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Threshold is fixed in the policy when it is bought</a:t>
            </a:r>
            <a:endParaRPr lang="en-US" sz="18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Crossing it creates the claim automatically</a:t>
            </a:r>
            <a:endParaRPr lang="en-US" sz="18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Approved claims are paid out immediately</a:t>
            </a:r>
            <a:endParaRPr lang="en-US" sz="1800" dirty="0"/>
          </a:p>
        </p:txBody>
      </p:sp>
      <p:sp>
        <p:nvSpPr>
          <p:cNvPr id="15" name="text-59"/>
          <p:cNvSpPr txBox="1"/>
          <p:nvPr/>
        </p:nvSpPr>
        <p:spPr>
          <a:xfrm>
            <a:off x="548640" y="58064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 on the event, not on the paperwork.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2"/>
                </a:solidFill>
              </a:rPr>
              <a:t>SOLUTION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ClimateSure works, end to end</a:t>
            </a:r>
            <a:endParaRPr lang="en-US" sz="3200" dirty="0"/>
          </a:p>
        </p:txBody>
      </p:sp>
      <p:sp>
        <p:nvSpPr>
          <p:cNvPr id="4" name="flow-line-60"/>
          <p:cNvSpPr/>
          <p:nvPr/>
        </p:nvSpPr>
        <p:spPr>
          <a:xfrm>
            <a:off x="1404595" y="2286000"/>
            <a:ext cx="9382506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dash"/>
          </a:ln>
        </p:spPr>
      </p:sp>
      <p:sp>
        <p:nvSpPr>
          <p:cNvPr id="5" name="icon-bg-61"/>
          <p:cNvSpPr/>
          <p:nvPr/>
        </p:nvSpPr>
        <p:spPr>
          <a:xfrm>
            <a:off x="993115" y="18745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62" descr="/tmp/claude-0/-home-user/472ad997-b1d8-52e7-b63c-66353a6ff570/scratchpad/deck/assets/icon-gear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8855" y="2080260"/>
            <a:ext cx="411480" cy="411480"/>
          </a:xfrm>
          <a:prstGeom prst="rect">
            <a:avLst/>
          </a:prstGeom>
        </p:spPr>
      </p:pic>
      <p:sp>
        <p:nvSpPr>
          <p:cNvPr id="7" name="text-63"/>
          <p:cNvSpPr txBox="1"/>
          <p:nvPr/>
        </p:nvSpPr>
        <p:spPr>
          <a:xfrm>
            <a:off x="1633195" y="1764792"/>
            <a:ext cx="320040" cy="32004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-64"/>
          <p:cNvSpPr txBox="1"/>
          <p:nvPr/>
        </p:nvSpPr>
        <p:spPr>
          <a:xfrm>
            <a:off x="548640" y="2880360"/>
            <a:ext cx="17119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product</a:t>
            </a:r>
            <a:endParaRPr lang="en-US" sz="1700" dirty="0"/>
          </a:p>
        </p:txBody>
      </p:sp>
      <p:sp>
        <p:nvSpPr>
          <p:cNvPr id="9" name="text-65"/>
          <p:cNvSpPr txBox="1"/>
          <p:nvPr/>
        </p:nvSpPr>
        <p:spPr>
          <a:xfrm>
            <a:off x="594360" y="3337560"/>
            <a:ext cx="162046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Admin sets the peril and trigger, e.g. rainfall ≥ 150 mm in 24 h</a:t>
            </a:r>
            <a:endParaRPr lang="en-US" sz="1300" dirty="0"/>
          </a:p>
        </p:txBody>
      </p:sp>
      <p:sp>
        <p:nvSpPr>
          <p:cNvPr id="10" name="icon-bg-66"/>
          <p:cNvSpPr/>
          <p:nvPr/>
        </p:nvSpPr>
        <p:spPr>
          <a:xfrm>
            <a:off x="2869616" y="187452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con-67" descr="/tmp/claude-0/-home-user/472ad997-b1d8-52e7-b63c-66353a6ff570/scratchpad/deck/assets/icon-file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5356" y="2080260"/>
            <a:ext cx="411480" cy="411480"/>
          </a:xfrm>
          <a:prstGeom prst="rect">
            <a:avLst/>
          </a:prstGeom>
        </p:spPr>
      </p:pic>
      <p:sp>
        <p:nvSpPr>
          <p:cNvPr id="12" name="text-68"/>
          <p:cNvSpPr txBox="1"/>
          <p:nvPr/>
        </p:nvSpPr>
        <p:spPr>
          <a:xfrm>
            <a:off x="3509696" y="1764792"/>
            <a:ext cx="320040" cy="32004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-69"/>
          <p:cNvSpPr txBox="1"/>
          <p:nvPr/>
        </p:nvSpPr>
        <p:spPr>
          <a:xfrm>
            <a:off x="2425141" y="2880360"/>
            <a:ext cx="17119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 a policy</a:t>
            </a:r>
            <a:endParaRPr lang="en-US" sz="1700" dirty="0"/>
          </a:p>
        </p:txBody>
      </p:sp>
      <p:sp>
        <p:nvSpPr>
          <p:cNvPr id="14" name="text-70"/>
          <p:cNvSpPr txBox="1"/>
          <p:nvPr/>
        </p:nvSpPr>
        <p:spPr>
          <a:xfrm>
            <a:off x="2470861" y="3337560"/>
            <a:ext cx="162046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Customer quotes and applies; underwriter approves; trigger locked in a snapshot</a:t>
            </a:r>
            <a:endParaRPr lang="en-US" sz="1300" dirty="0"/>
          </a:p>
        </p:txBody>
      </p:sp>
      <p:sp>
        <p:nvSpPr>
          <p:cNvPr id="15" name="icon-bg-71"/>
          <p:cNvSpPr/>
          <p:nvPr/>
        </p:nvSpPr>
        <p:spPr>
          <a:xfrm>
            <a:off x="4746117" y="18745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-72" descr="/tmp/claude-0/-home-user/472ad997-b1d8-52e7-b63c-66353a6ff570/scratchpad/deck/assets/icon-wallet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1857" y="2080260"/>
            <a:ext cx="411480" cy="411480"/>
          </a:xfrm>
          <a:prstGeom prst="rect">
            <a:avLst/>
          </a:prstGeom>
        </p:spPr>
      </p:pic>
      <p:sp>
        <p:nvSpPr>
          <p:cNvPr id="17" name="text-73"/>
          <p:cNvSpPr txBox="1"/>
          <p:nvPr/>
        </p:nvSpPr>
        <p:spPr>
          <a:xfrm>
            <a:off x="5386197" y="1764792"/>
            <a:ext cx="320040" cy="32004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-74"/>
          <p:cNvSpPr txBox="1"/>
          <p:nvPr/>
        </p:nvSpPr>
        <p:spPr>
          <a:xfrm>
            <a:off x="4301642" y="2880360"/>
            <a:ext cx="17119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 premium</a:t>
            </a:r>
            <a:endParaRPr lang="en-US" sz="1700" dirty="0"/>
          </a:p>
        </p:txBody>
      </p:sp>
      <p:sp>
        <p:nvSpPr>
          <p:cNvPr id="19" name="text-75"/>
          <p:cNvSpPr txBox="1"/>
          <p:nvPr/>
        </p:nvSpPr>
        <p:spPr>
          <a:xfrm>
            <a:off x="4347362" y="3337560"/>
            <a:ext cx="162046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Simulated checkout settles instantly</a:t>
            </a:r>
            <a:endParaRPr lang="en-US" sz="1300" dirty="0"/>
          </a:p>
        </p:txBody>
      </p:sp>
      <p:sp>
        <p:nvSpPr>
          <p:cNvPr id="20" name="icon-bg-76"/>
          <p:cNvSpPr/>
          <p:nvPr/>
        </p:nvSpPr>
        <p:spPr>
          <a:xfrm>
            <a:off x="6622618" y="187452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icon-77" descr="/tmp/claude-0/-home-user/472ad997-b1d8-52e7-b63c-66353a6ff570/scratchpad/deck/assets/icon-rain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8358" y="2080260"/>
            <a:ext cx="411480" cy="411480"/>
          </a:xfrm>
          <a:prstGeom prst="rect">
            <a:avLst/>
          </a:prstGeom>
        </p:spPr>
      </p:pic>
      <p:sp>
        <p:nvSpPr>
          <p:cNvPr id="22" name="text-78"/>
          <p:cNvSpPr txBox="1"/>
          <p:nvPr/>
        </p:nvSpPr>
        <p:spPr>
          <a:xfrm>
            <a:off x="7262698" y="1764792"/>
            <a:ext cx="320040" cy="32004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-79"/>
          <p:cNvSpPr txBox="1"/>
          <p:nvPr/>
        </p:nvSpPr>
        <p:spPr>
          <a:xfrm>
            <a:off x="6178144" y="2880360"/>
            <a:ext cx="17119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</a:t>
            </a:r>
            <a:endParaRPr lang="en-US" sz="1700" dirty="0"/>
          </a:p>
        </p:txBody>
      </p:sp>
      <p:sp>
        <p:nvSpPr>
          <p:cNvPr id="24" name="text-80"/>
          <p:cNvSpPr txBox="1"/>
          <p:nvPr/>
        </p:nvSpPr>
        <p:spPr>
          <a:xfrm>
            <a:off x="6223864" y="3337560"/>
            <a:ext cx="162046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Live readings per zone; admin records a value for a product</a:t>
            </a:r>
            <a:endParaRPr lang="en-US" sz="1300" dirty="0"/>
          </a:p>
        </p:txBody>
      </p:sp>
      <p:sp>
        <p:nvSpPr>
          <p:cNvPr id="25" name="icon-bg-81"/>
          <p:cNvSpPr/>
          <p:nvPr/>
        </p:nvSpPr>
        <p:spPr>
          <a:xfrm>
            <a:off x="8499119" y="18745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con-82" descr="/tmp/claude-0/-home-user/472ad997-b1d8-52e7-b63c-66353a6ff570/scratchpad/deck/assets/icon-bolt-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4859" y="2080260"/>
            <a:ext cx="411480" cy="411480"/>
          </a:xfrm>
          <a:prstGeom prst="rect">
            <a:avLst/>
          </a:prstGeom>
        </p:spPr>
      </p:pic>
      <p:sp>
        <p:nvSpPr>
          <p:cNvPr id="27" name="text-83"/>
          <p:cNvSpPr txBox="1"/>
          <p:nvPr/>
        </p:nvSpPr>
        <p:spPr>
          <a:xfrm>
            <a:off x="9139199" y="1764792"/>
            <a:ext cx="320040" cy="32004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text-84"/>
          <p:cNvSpPr txBox="1"/>
          <p:nvPr/>
        </p:nvSpPr>
        <p:spPr>
          <a:xfrm>
            <a:off x="8054645" y="2880360"/>
            <a:ext cx="17119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 fires</a:t>
            </a:r>
            <a:endParaRPr lang="en-US" sz="1700" dirty="0"/>
          </a:p>
        </p:txBody>
      </p:sp>
      <p:sp>
        <p:nvSpPr>
          <p:cNvPr id="29" name="text-85"/>
          <p:cNvSpPr txBox="1"/>
          <p:nvPr/>
        </p:nvSpPr>
        <p:spPr>
          <a:xfrm>
            <a:off x="8100365" y="3337560"/>
            <a:ext cx="162046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Verified trigger event creates claims for paid, matching policies</a:t>
            </a:r>
            <a:endParaRPr lang="en-US" sz="1300" dirty="0"/>
          </a:p>
        </p:txBody>
      </p:sp>
      <p:sp>
        <p:nvSpPr>
          <p:cNvPr id="30" name="icon-bg-86"/>
          <p:cNvSpPr/>
          <p:nvPr/>
        </p:nvSpPr>
        <p:spPr>
          <a:xfrm>
            <a:off x="10375621" y="187452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1" name="icon-87" descr="/tmp/claude-0/-home-user/472ad997-b1d8-52e7-b63c-66353a6ff570/scratchpad/deck/assets/icon-money-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81361" y="2080260"/>
            <a:ext cx="411480" cy="411480"/>
          </a:xfrm>
          <a:prstGeom prst="rect">
            <a:avLst/>
          </a:prstGeom>
        </p:spPr>
      </p:pic>
      <p:sp>
        <p:nvSpPr>
          <p:cNvPr id="32" name="text-88"/>
          <p:cNvSpPr txBox="1"/>
          <p:nvPr/>
        </p:nvSpPr>
        <p:spPr>
          <a:xfrm>
            <a:off x="11015701" y="1764792"/>
            <a:ext cx="320040" cy="32004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3" name="text-89"/>
          <p:cNvSpPr txBox="1"/>
          <p:nvPr/>
        </p:nvSpPr>
        <p:spPr>
          <a:xfrm>
            <a:off x="9931146" y="2880360"/>
            <a:ext cx="17119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Payout</a:t>
            </a:r>
            <a:endParaRPr lang="en-US" sz="1700" dirty="0"/>
          </a:p>
        </p:txBody>
      </p:sp>
      <p:sp>
        <p:nvSpPr>
          <p:cNvPr id="34" name="text-90"/>
          <p:cNvSpPr txBox="1"/>
          <p:nvPr/>
        </p:nvSpPr>
        <p:spPr>
          <a:xfrm>
            <a:off x="9976866" y="3337560"/>
            <a:ext cx="162046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Claims officer approves; payout paid at once; claim settled</a:t>
            </a:r>
            <a:endParaRPr lang="en-US" sz="1300" dirty="0"/>
          </a:p>
        </p:txBody>
      </p:sp>
      <p:sp>
        <p:nvSpPr>
          <p:cNvPr id="35" name="card-91"/>
          <p:cNvSpPr/>
          <p:nvPr/>
        </p:nvSpPr>
        <p:spPr>
          <a:xfrm>
            <a:off x="548640" y="5074920"/>
            <a:ext cx="11094415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36" name="icon-bg-92"/>
          <p:cNvSpPr/>
          <p:nvPr/>
        </p:nvSpPr>
        <p:spPr>
          <a:xfrm>
            <a:off x="777240" y="523036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7" name="icon-93" descr="/tmp/claude-0/-home-user/472ad997-b1d8-52e7-b63c-66353a6ff570/scratchpad/deck/assets/icon-user-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260" y="5390388"/>
            <a:ext cx="320040" cy="320040"/>
          </a:xfrm>
          <a:prstGeom prst="rect">
            <a:avLst/>
          </a:prstGeom>
        </p:spPr>
      </p:pic>
      <p:sp>
        <p:nvSpPr>
          <p:cNvPr id="38" name="text-94"/>
          <p:cNvSpPr txBox="1"/>
          <p:nvPr/>
        </p:nvSpPr>
        <p:spPr>
          <a:xfrm>
            <a:off x="1600200" y="5193792"/>
            <a:ext cx="9814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Example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Ravi insures his shop for ₹1,50,000 at 150 mm. Rainfall of 172 mm is recorded in Hyderabad Central → an automatic claim appears, the officer approves it and ₹1,50,000 is paid the same minute.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2"/>
                </a:solidFill>
              </a:rPr>
              <a:t>REQUIREMENTS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and non-functional requirements</a:t>
            </a:r>
            <a:endParaRPr lang="en-US" sz="3200" dirty="0"/>
          </a:p>
        </p:txBody>
      </p:sp>
      <p:sp>
        <p:nvSpPr>
          <p:cNvPr id="4" name="text-95"/>
          <p:cNvSpPr txBox="1"/>
          <p:nvPr/>
        </p:nvSpPr>
        <p:spPr>
          <a:xfrm>
            <a:off x="548640" y="16002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— by role</a:t>
            </a:r>
            <a:endParaRPr lang="en-US" sz="1800" dirty="0"/>
          </a:p>
        </p:txBody>
      </p:sp>
      <p:sp>
        <p:nvSpPr>
          <p:cNvPr id="5" name="card-96"/>
          <p:cNvSpPr/>
          <p:nvPr/>
        </p:nvSpPr>
        <p:spPr>
          <a:xfrm>
            <a:off x="548640" y="2057400"/>
            <a:ext cx="603504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12700">
            <a:solidFill>
              <a:srgbClr val="EAD9DF"/>
            </a:solidFill>
            <a:prstDash val="solid"/>
          </a:ln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6" name="icon-bg-97"/>
          <p:cNvSpPr/>
          <p:nvPr/>
        </p:nvSpPr>
        <p:spPr>
          <a:xfrm>
            <a:off x="713232" y="21945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-98" descr="/tmp/claude-0/-home-user/472ad997-b1d8-52e7-b63c-66353a6ff570/scratchpad/deck/assets/icon-user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822" y="2343150"/>
            <a:ext cx="297180" cy="297180"/>
          </a:xfrm>
          <a:prstGeom prst="rect">
            <a:avLst/>
          </a:prstGeom>
        </p:spPr>
      </p:pic>
      <p:sp>
        <p:nvSpPr>
          <p:cNvPr id="8" name="text-99"/>
          <p:cNvSpPr txBox="1"/>
          <p:nvPr/>
        </p:nvSpPr>
        <p:spPr>
          <a:xfrm>
            <a:off x="1463040" y="21488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Customer</a:t>
            </a:r>
            <a:endParaRPr lang="en-US" sz="1500" dirty="0"/>
          </a:p>
        </p:txBody>
      </p:sp>
      <p:sp>
        <p:nvSpPr>
          <p:cNvPr id="9" name="text-100"/>
          <p:cNvSpPr txBox="1"/>
          <p:nvPr/>
        </p:nvSpPr>
        <p:spPr>
          <a:xfrm>
            <a:off x="1463040" y="244144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Browse products, get quotes, apply, pay premiums, track policies, claims and payouts, file manual claims</a:t>
            </a:r>
            <a:endParaRPr lang="en-US" sz="1250" dirty="0"/>
          </a:p>
        </p:txBody>
      </p:sp>
      <p:sp>
        <p:nvSpPr>
          <p:cNvPr id="10" name="card-101"/>
          <p:cNvSpPr/>
          <p:nvPr/>
        </p:nvSpPr>
        <p:spPr>
          <a:xfrm>
            <a:off x="548640" y="3044952"/>
            <a:ext cx="603504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12700">
            <a:solidFill>
              <a:srgbClr val="EAD9DF"/>
            </a:solidFill>
            <a:prstDash val="solid"/>
          </a:ln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11" name="icon-bg-102"/>
          <p:cNvSpPr/>
          <p:nvPr/>
        </p:nvSpPr>
        <p:spPr>
          <a:xfrm>
            <a:off x="713232" y="3182112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con-103" descr="/tmp/claude-0/-home-user/472ad997-b1d8-52e7-b63c-66353a6ff570/scratchpad/deck/assets/icon-file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822" y="3330702"/>
            <a:ext cx="297180" cy="297180"/>
          </a:xfrm>
          <a:prstGeom prst="rect">
            <a:avLst/>
          </a:prstGeom>
        </p:spPr>
      </p:pic>
      <p:sp>
        <p:nvSpPr>
          <p:cNvPr id="13" name="text-104"/>
          <p:cNvSpPr txBox="1"/>
          <p:nvPr/>
        </p:nvSpPr>
        <p:spPr>
          <a:xfrm>
            <a:off x="1463040" y="313639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Underwriter</a:t>
            </a:r>
            <a:endParaRPr lang="en-US" sz="1500" dirty="0"/>
          </a:p>
        </p:txBody>
      </p:sp>
      <p:sp>
        <p:nvSpPr>
          <p:cNvPr id="14" name="text-105"/>
          <p:cNvSpPr txBox="1"/>
          <p:nvPr/>
        </p:nvSpPr>
        <p:spPr>
          <a:xfrm>
            <a:off x="1463040" y="342900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Review policy applications and approve or reject them with reasons</a:t>
            </a:r>
            <a:endParaRPr lang="en-US" sz="1250" dirty="0"/>
          </a:p>
        </p:txBody>
      </p:sp>
      <p:sp>
        <p:nvSpPr>
          <p:cNvPr id="15" name="card-106"/>
          <p:cNvSpPr/>
          <p:nvPr/>
        </p:nvSpPr>
        <p:spPr>
          <a:xfrm>
            <a:off x="548640" y="4032504"/>
            <a:ext cx="603504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12700">
            <a:solidFill>
              <a:srgbClr val="EAD9DF"/>
            </a:solidFill>
            <a:prstDash val="solid"/>
          </a:ln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16" name="icon-bg-107"/>
          <p:cNvSpPr/>
          <p:nvPr/>
        </p:nvSpPr>
        <p:spPr>
          <a:xfrm>
            <a:off x="713232" y="4169664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-108" descr="/tmp/claude-0/-home-user/472ad997-b1d8-52e7-b63c-66353a6ff570/scratchpad/deck/assets/icon-gavel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822" y="4318254"/>
            <a:ext cx="297180" cy="297180"/>
          </a:xfrm>
          <a:prstGeom prst="rect">
            <a:avLst/>
          </a:prstGeom>
        </p:spPr>
      </p:pic>
      <p:sp>
        <p:nvSpPr>
          <p:cNvPr id="18" name="text-109"/>
          <p:cNvSpPr txBox="1"/>
          <p:nvPr/>
        </p:nvSpPr>
        <p:spPr>
          <a:xfrm>
            <a:off x="1463040" y="412394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Claims officer</a:t>
            </a:r>
            <a:endParaRPr lang="en-US" sz="1500" dirty="0"/>
          </a:p>
        </p:txBody>
      </p:sp>
      <p:sp>
        <p:nvSpPr>
          <p:cNvPr id="19" name="text-110"/>
          <p:cNvSpPr txBox="1"/>
          <p:nvPr/>
        </p:nvSpPr>
        <p:spPr>
          <a:xfrm>
            <a:off x="1463040" y="441655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Review claims, approve an amount (triggers payout), reject or settle</a:t>
            </a:r>
            <a:endParaRPr lang="en-US" sz="1250" dirty="0"/>
          </a:p>
        </p:txBody>
      </p:sp>
      <p:sp>
        <p:nvSpPr>
          <p:cNvPr id="20" name="card-111"/>
          <p:cNvSpPr/>
          <p:nvPr/>
        </p:nvSpPr>
        <p:spPr>
          <a:xfrm>
            <a:off x="548640" y="5020056"/>
            <a:ext cx="603504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12700">
            <a:solidFill>
              <a:srgbClr val="EAD9DF"/>
            </a:solidFill>
            <a:prstDash val="solid"/>
          </a:ln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21" name="icon-bg-112"/>
          <p:cNvSpPr/>
          <p:nvPr/>
        </p:nvSpPr>
        <p:spPr>
          <a:xfrm>
            <a:off x="713232" y="5157216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2" name="icon-113" descr="/tmp/claude-0/-home-user/472ad997-b1d8-52e7-b63c-66353a6ff570/scratchpad/deck/assets/icon-gear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822" y="5305806"/>
            <a:ext cx="297180" cy="297180"/>
          </a:xfrm>
          <a:prstGeom prst="rect">
            <a:avLst/>
          </a:prstGeom>
        </p:spPr>
      </p:pic>
      <p:sp>
        <p:nvSpPr>
          <p:cNvPr id="23" name="text-114"/>
          <p:cNvSpPr txBox="1"/>
          <p:nvPr/>
        </p:nvSpPr>
        <p:spPr>
          <a:xfrm>
            <a:off x="1463040" y="511149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Admin</a:t>
            </a:r>
            <a:endParaRPr lang="en-US" sz="1500" dirty="0"/>
          </a:p>
        </p:txBody>
      </p:sp>
      <p:sp>
        <p:nvSpPr>
          <p:cNvPr id="24" name="text-115"/>
          <p:cNvSpPr txBox="1"/>
          <p:nvPr/>
        </p:nvSpPr>
        <p:spPr>
          <a:xfrm>
            <a:off x="1463040" y="540410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Products &amp; thresholds, zones, perils, pricing rules, users, trigger simulator, payouts</a:t>
            </a:r>
            <a:endParaRPr lang="en-US" sz="1250" dirty="0"/>
          </a:p>
        </p:txBody>
      </p:sp>
      <p:sp>
        <p:nvSpPr>
          <p:cNvPr id="25" name="card-116"/>
          <p:cNvSpPr/>
          <p:nvPr/>
        </p:nvSpPr>
        <p:spPr>
          <a:xfrm>
            <a:off x="6949440" y="1600200"/>
            <a:ext cx="4693615" cy="4480560"/>
          </a:xfrm>
          <a:prstGeom prst="roundRect">
            <a:avLst>
              <a:gd name="adj" fmla="val 2449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26" name="text-117"/>
          <p:cNvSpPr txBox="1"/>
          <p:nvPr/>
        </p:nvSpPr>
        <p:spPr>
          <a:xfrm>
            <a:off x="7269480" y="1783080"/>
            <a:ext cx="4144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</a:t>
            </a:r>
            <a:endParaRPr lang="en-US" sz="1800" dirty="0"/>
          </a:p>
        </p:txBody>
      </p:sp>
      <p:sp>
        <p:nvSpPr>
          <p:cNvPr id="27" name="icon-bg-118"/>
          <p:cNvSpPr/>
          <p:nvPr/>
        </p:nvSpPr>
        <p:spPr>
          <a:xfrm>
            <a:off x="7269480" y="23774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8" name="icon-119" descr="/tmp/claude-0/-home-user/472ad997-b1d8-52e7-b63c-66353a6ff570/scratchpad/deck/assets/icon-bolt-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3780" y="2491740"/>
            <a:ext cx="228600" cy="228600"/>
          </a:xfrm>
          <a:prstGeom prst="rect">
            <a:avLst/>
          </a:prstGeom>
        </p:spPr>
      </p:pic>
      <p:sp>
        <p:nvSpPr>
          <p:cNvPr id="29" name="text-120"/>
          <p:cNvSpPr txBox="1"/>
          <p:nvPr/>
        </p:nvSpPr>
        <p:spPr>
          <a:xfrm>
            <a:off x="7909560" y="2395728"/>
            <a:ext cx="35048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Reactive &amp; non-blocking end to end</a:t>
            </a:r>
            <a:endParaRPr lang="en-US" sz="1400" dirty="0"/>
          </a:p>
        </p:txBody>
      </p:sp>
      <p:sp>
        <p:nvSpPr>
          <p:cNvPr id="30" name="icon-bg-121"/>
          <p:cNvSpPr/>
          <p:nvPr/>
        </p:nvSpPr>
        <p:spPr>
          <a:xfrm>
            <a:off x="7269480" y="2980944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1" name="icon-122" descr="/tmp/claude-0/-home-user/472ad997-b1d8-52e7-b63c-66353a6ff570/scratchpad/deck/assets/icon-lock-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3780" y="3095244"/>
            <a:ext cx="228600" cy="228600"/>
          </a:xfrm>
          <a:prstGeom prst="rect">
            <a:avLst/>
          </a:prstGeom>
        </p:spPr>
      </p:pic>
      <p:sp>
        <p:nvSpPr>
          <p:cNvPr id="32" name="text-123"/>
          <p:cNvSpPr txBox="1"/>
          <p:nvPr/>
        </p:nvSpPr>
        <p:spPr>
          <a:xfrm>
            <a:off x="7909560" y="2999232"/>
            <a:ext cx="35048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Secure: JWT, roles, gateway-only access</a:t>
            </a:r>
            <a:endParaRPr lang="en-US" sz="1400" dirty="0"/>
          </a:p>
        </p:txBody>
      </p:sp>
      <p:sp>
        <p:nvSpPr>
          <p:cNvPr id="33" name="icon-bg-124"/>
          <p:cNvSpPr/>
          <p:nvPr/>
        </p:nvSpPr>
        <p:spPr>
          <a:xfrm>
            <a:off x="7269480" y="358444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4" name="icon-125" descr="/tmp/claude-0/-home-user/472ad997-b1d8-52e7-b63c-66353a6ff570/scratchpad/deck/assets/icon-check-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3780" y="3698748"/>
            <a:ext cx="228600" cy="228600"/>
          </a:xfrm>
          <a:prstGeom prst="rect">
            <a:avLst/>
          </a:prstGeom>
        </p:spPr>
      </p:pic>
      <p:sp>
        <p:nvSpPr>
          <p:cNvPr id="35" name="text-126"/>
          <p:cNvSpPr txBox="1"/>
          <p:nvPr/>
        </p:nvSpPr>
        <p:spPr>
          <a:xfrm>
            <a:off x="7909560" y="3602736"/>
            <a:ext cx="35048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Idempotent: no duplicate claims or payouts</a:t>
            </a:r>
            <a:endParaRPr lang="en-US" sz="1400" dirty="0"/>
          </a:p>
        </p:txBody>
      </p:sp>
      <p:sp>
        <p:nvSpPr>
          <p:cNvPr id="36" name="icon-bg-127"/>
          <p:cNvSpPr/>
          <p:nvPr/>
        </p:nvSpPr>
        <p:spPr>
          <a:xfrm>
            <a:off x="7269480" y="4187952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7" name="icon-128" descr="/tmp/claude-0/-home-user/472ad997-b1d8-52e7-b63c-66353a6ff570/scratchpad/deck/assets/icon-bell-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83780" y="4302252"/>
            <a:ext cx="228600" cy="228600"/>
          </a:xfrm>
          <a:prstGeom prst="rect">
            <a:avLst/>
          </a:prstGeom>
        </p:spPr>
      </p:pic>
      <p:sp>
        <p:nvSpPr>
          <p:cNvPr id="38" name="text-129"/>
          <p:cNvSpPr txBox="1"/>
          <p:nvPr/>
        </p:nvSpPr>
        <p:spPr>
          <a:xfrm>
            <a:off x="7909560" y="4206240"/>
            <a:ext cx="35048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Real-time in-app notifications (SSE)</a:t>
            </a:r>
            <a:endParaRPr lang="en-US" sz="1400" dirty="0"/>
          </a:p>
        </p:txBody>
      </p:sp>
      <p:sp>
        <p:nvSpPr>
          <p:cNvPr id="39" name="icon-bg-130"/>
          <p:cNvSpPr/>
          <p:nvPr/>
        </p:nvSpPr>
        <p:spPr>
          <a:xfrm>
            <a:off x="7269480" y="4791456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0" name="icon-131" descr="/tmp/claude-0/-home-user/472ad997-b1d8-52e7-b63c-66353a6ff570/scratchpad/deck/assets/icon-database-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83780" y="4905756"/>
            <a:ext cx="228600" cy="228600"/>
          </a:xfrm>
          <a:prstGeom prst="rect">
            <a:avLst/>
          </a:prstGeom>
        </p:spPr>
      </p:pic>
      <p:sp>
        <p:nvSpPr>
          <p:cNvPr id="41" name="text-132"/>
          <p:cNvSpPr txBox="1"/>
          <p:nvPr/>
        </p:nvSpPr>
        <p:spPr>
          <a:xfrm>
            <a:off x="7909560" y="4809744"/>
            <a:ext cx="35048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Database per service</a:t>
            </a:r>
            <a:endParaRPr lang="en-US" sz="1400" dirty="0"/>
          </a:p>
        </p:txBody>
      </p:sp>
      <p:sp>
        <p:nvSpPr>
          <p:cNvPr id="42" name="icon-bg-133"/>
          <p:cNvSpPr/>
          <p:nvPr/>
        </p:nvSpPr>
        <p:spPr>
          <a:xfrm>
            <a:off x="7269480" y="53949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3" name="icon-134" descr="/tmp/claude-0/-home-user/472ad997-b1d8-52e7-b63c-66353a6ff570/scratchpad/deck/assets/icon-flask-w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83780" y="5509260"/>
            <a:ext cx="228600" cy="228600"/>
          </a:xfrm>
          <a:prstGeom prst="rect">
            <a:avLst/>
          </a:prstGeom>
        </p:spPr>
      </p:pic>
      <p:sp>
        <p:nvSpPr>
          <p:cNvPr id="44" name="text-135"/>
          <p:cNvSpPr txBox="1"/>
          <p:nvPr/>
        </p:nvSpPr>
        <p:spPr>
          <a:xfrm>
            <a:off x="7909560" y="5413248"/>
            <a:ext cx="35048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Tested: 75%+ line coverage per service (achieved 79–98%)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2"/>
                </a:solidFill>
              </a:rPr>
              <a:t>ARCHITECTURE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 microservices behind one gateway</a:t>
            </a:r>
            <a:endParaRPr lang="en-US" sz="3200" dirty="0"/>
          </a:p>
        </p:txBody>
      </p:sp>
      <p:sp>
        <p:nvSpPr>
          <p:cNvPr id="4" name="card-136"/>
          <p:cNvSpPr/>
          <p:nvPr/>
        </p:nvSpPr>
        <p:spPr>
          <a:xfrm>
            <a:off x="548640" y="2880360"/>
            <a:ext cx="2011680" cy="1234440"/>
          </a:xfrm>
          <a:prstGeom prst="roundRect">
            <a:avLst>
              <a:gd name="adj" fmla="val 7407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5" name="text-137"/>
          <p:cNvSpPr txBox="1"/>
          <p:nvPr/>
        </p:nvSpPr>
        <p:spPr>
          <a:xfrm>
            <a:off x="640080" y="29900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Angular 21 SPA</a:t>
            </a:r>
            <a:endParaRPr lang="en-US" sz="1400" dirty="0"/>
          </a:p>
        </p:txBody>
      </p:sp>
      <p:sp>
        <p:nvSpPr>
          <p:cNvPr id="6" name="text-138"/>
          <p:cNvSpPr txBox="1"/>
          <p:nvPr/>
        </p:nvSpPr>
        <p:spPr>
          <a:xfrm>
            <a:off x="640080" y="3319272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Browser · NgRx · SSE</a:t>
            </a:r>
            <a:endParaRPr lang="en-US" sz="1100" dirty="0"/>
          </a:p>
        </p:txBody>
      </p:sp>
      <p:sp>
        <p:nvSpPr>
          <p:cNvPr id="7" name="card-139"/>
          <p:cNvSpPr/>
          <p:nvPr/>
        </p:nvSpPr>
        <p:spPr>
          <a:xfrm>
            <a:off x="2971800" y="2880360"/>
            <a:ext cx="2011680" cy="1234440"/>
          </a:xfrm>
          <a:prstGeom prst="roundRect">
            <a:avLst>
              <a:gd name="adj" fmla="val 7407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8" name="text-140"/>
          <p:cNvSpPr txBox="1"/>
          <p:nvPr/>
        </p:nvSpPr>
        <p:spPr>
          <a:xfrm>
            <a:off x="3063240" y="29900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API Gateway :8080</a:t>
            </a:r>
            <a:endParaRPr lang="en-US" sz="1400" dirty="0"/>
          </a:p>
        </p:txBody>
      </p:sp>
      <p:sp>
        <p:nvSpPr>
          <p:cNvPr id="9" name="text-141"/>
          <p:cNvSpPr txBox="1"/>
          <p:nvPr/>
        </p:nvSpPr>
        <p:spPr>
          <a:xfrm>
            <a:off x="3063240" y="3319272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JWT filter · routing · CORS</a:t>
            </a:r>
            <a:endParaRPr lang="en-US" sz="1100" dirty="0"/>
          </a:p>
        </p:txBody>
      </p:sp>
      <p:sp>
        <p:nvSpPr>
          <p:cNvPr id="10" name="arrow-142"/>
          <p:cNvSpPr/>
          <p:nvPr/>
        </p:nvSpPr>
        <p:spPr>
          <a:xfrm>
            <a:off x="2560320" y="3493008"/>
            <a:ext cx="41148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1" name="card-143"/>
          <p:cNvSpPr/>
          <p:nvPr/>
        </p:nvSpPr>
        <p:spPr>
          <a:xfrm>
            <a:off x="2971800" y="1691640"/>
            <a:ext cx="2011680" cy="868680"/>
          </a:xfrm>
          <a:prstGeom prst="roundRect">
            <a:avLst>
              <a:gd name="adj" fmla="val 10526"/>
            </a:avLst>
          </a:prstGeom>
          <a:solidFill>
            <a:schemeClr val="accent4"/>
          </a:solidFill>
          <a:ln/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12" name="text-144"/>
          <p:cNvSpPr txBox="1"/>
          <p:nvPr/>
        </p:nvSpPr>
        <p:spPr>
          <a:xfrm>
            <a:off x="3063240" y="18013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Eureka :8761</a:t>
            </a:r>
            <a:endParaRPr lang="en-US" sz="1400" dirty="0"/>
          </a:p>
        </p:txBody>
      </p:sp>
      <p:sp>
        <p:nvSpPr>
          <p:cNvPr id="13" name="text-145"/>
          <p:cNvSpPr txBox="1"/>
          <p:nvPr/>
        </p:nvSpPr>
        <p:spPr>
          <a:xfrm>
            <a:off x="3063240" y="21305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Service registry</a:t>
            </a:r>
            <a:endParaRPr lang="en-US" sz="1100" dirty="0"/>
          </a:p>
        </p:txBody>
      </p:sp>
      <p:sp>
        <p:nvSpPr>
          <p:cNvPr id="14" name="arrow-146"/>
          <p:cNvSpPr/>
          <p:nvPr/>
        </p:nvSpPr>
        <p:spPr>
          <a:xfrm flipV="1">
            <a:off x="3977640" y="2560320"/>
            <a:ext cx="0" cy="32004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  <a:tailEnd type="triangle"/>
          </a:ln>
        </p:spPr>
      </p:sp>
      <p:sp>
        <p:nvSpPr>
          <p:cNvPr id="15" name="card-147"/>
          <p:cNvSpPr/>
          <p:nvPr/>
        </p:nvSpPr>
        <p:spPr>
          <a:xfrm>
            <a:off x="5532120" y="1691640"/>
            <a:ext cx="1828800" cy="1234440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 w="12700">
            <a:solidFill>
              <a:srgbClr val="EAD9DF"/>
            </a:solidFill>
            <a:prstDash val="solid"/>
          </a:ln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16" name="text-148"/>
          <p:cNvSpPr txBox="1"/>
          <p:nvPr/>
        </p:nvSpPr>
        <p:spPr>
          <a:xfrm>
            <a:off x="5623560" y="180136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Auth</a:t>
            </a:r>
            <a:endParaRPr lang="en-US" sz="1350" dirty="0"/>
          </a:p>
        </p:txBody>
      </p:sp>
      <p:sp>
        <p:nvSpPr>
          <p:cNvPr id="17" name="text-149"/>
          <p:cNvSpPr txBox="1"/>
          <p:nvPr/>
        </p:nvSpPr>
        <p:spPr>
          <a:xfrm>
            <a:off x="5623560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Service :8081</a:t>
            </a:r>
            <a:endParaRPr lang="en-US" sz="1100" dirty="0"/>
          </a:p>
        </p:txBody>
      </p:sp>
      <p:pic>
        <p:nvPicPr>
          <p:cNvPr id="18" name="db-150" descr="/tmp/claude-0/-home-user/472ad997-b1d8-52e7-b63c-66353a6ff570/scratchpad/deck/assets/icon-database-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1072" y="2468880"/>
            <a:ext cx="274320" cy="274320"/>
          </a:xfrm>
          <a:prstGeom prst="rect">
            <a:avLst/>
          </a:prstGeom>
        </p:spPr>
      </p:pic>
      <p:sp>
        <p:nvSpPr>
          <p:cNvPr id="19" name="card-151"/>
          <p:cNvSpPr/>
          <p:nvPr/>
        </p:nvSpPr>
        <p:spPr>
          <a:xfrm>
            <a:off x="7543800" y="1691640"/>
            <a:ext cx="1828800" cy="1234440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 w="12700">
            <a:solidFill>
              <a:srgbClr val="EAD9DF"/>
            </a:solidFill>
            <a:prstDash val="solid"/>
          </a:ln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20" name="text-152"/>
          <p:cNvSpPr txBox="1"/>
          <p:nvPr/>
        </p:nvSpPr>
        <p:spPr>
          <a:xfrm>
            <a:off x="7635240" y="180136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Product &amp; Policy</a:t>
            </a:r>
            <a:endParaRPr lang="en-US" sz="1350" dirty="0"/>
          </a:p>
        </p:txBody>
      </p:sp>
      <p:sp>
        <p:nvSpPr>
          <p:cNvPr id="21" name="text-153"/>
          <p:cNvSpPr txBox="1"/>
          <p:nvPr/>
        </p:nvSpPr>
        <p:spPr>
          <a:xfrm>
            <a:off x="7635240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Service :8082</a:t>
            </a:r>
            <a:endParaRPr lang="en-US" sz="1100" dirty="0"/>
          </a:p>
        </p:txBody>
      </p:sp>
      <p:pic>
        <p:nvPicPr>
          <p:cNvPr id="22" name="db-154" descr="/tmp/claude-0/-home-user/472ad997-b1d8-52e7-b63c-66353a6ff570/scratchpad/deck/assets/icon-database-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752" y="2468880"/>
            <a:ext cx="274320" cy="274320"/>
          </a:xfrm>
          <a:prstGeom prst="rect">
            <a:avLst/>
          </a:prstGeom>
        </p:spPr>
      </p:pic>
      <p:sp>
        <p:nvSpPr>
          <p:cNvPr id="23" name="card-155"/>
          <p:cNvSpPr/>
          <p:nvPr/>
        </p:nvSpPr>
        <p:spPr>
          <a:xfrm>
            <a:off x="9555480" y="1691640"/>
            <a:ext cx="1828800" cy="1234440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 w="12700">
            <a:solidFill>
              <a:srgbClr val="EAD9DF"/>
            </a:solidFill>
            <a:prstDash val="solid"/>
          </a:ln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24" name="text-156"/>
          <p:cNvSpPr txBox="1"/>
          <p:nvPr/>
        </p:nvSpPr>
        <p:spPr>
          <a:xfrm>
            <a:off x="9646920" y="180136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Claims</a:t>
            </a:r>
            <a:endParaRPr lang="en-US" sz="1350" dirty="0"/>
          </a:p>
        </p:txBody>
      </p:sp>
      <p:sp>
        <p:nvSpPr>
          <p:cNvPr id="25" name="text-157"/>
          <p:cNvSpPr txBox="1"/>
          <p:nvPr/>
        </p:nvSpPr>
        <p:spPr>
          <a:xfrm>
            <a:off x="9646920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Service :8083</a:t>
            </a:r>
            <a:endParaRPr lang="en-US" sz="1100" dirty="0"/>
          </a:p>
        </p:txBody>
      </p:sp>
      <p:pic>
        <p:nvPicPr>
          <p:cNvPr id="26" name="db-158" descr="/tmp/claude-0/-home-user/472ad997-b1d8-52e7-b63c-66353a6ff570/scratchpad/deck/assets/icon-database-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2" y="2468880"/>
            <a:ext cx="274320" cy="274320"/>
          </a:xfrm>
          <a:prstGeom prst="rect">
            <a:avLst/>
          </a:prstGeom>
        </p:spPr>
      </p:pic>
      <p:sp>
        <p:nvSpPr>
          <p:cNvPr id="27" name="card-159"/>
          <p:cNvSpPr/>
          <p:nvPr/>
        </p:nvSpPr>
        <p:spPr>
          <a:xfrm>
            <a:off x="5532120" y="3154680"/>
            <a:ext cx="1828800" cy="1234440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 w="12700">
            <a:solidFill>
              <a:srgbClr val="EAD9DF"/>
            </a:solidFill>
            <a:prstDash val="solid"/>
          </a:ln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28" name="text-160"/>
          <p:cNvSpPr txBox="1"/>
          <p:nvPr/>
        </p:nvSpPr>
        <p:spPr>
          <a:xfrm>
            <a:off x="5623560" y="326440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Notification</a:t>
            </a:r>
            <a:endParaRPr lang="en-US" sz="1350" dirty="0"/>
          </a:p>
        </p:txBody>
      </p:sp>
      <p:sp>
        <p:nvSpPr>
          <p:cNvPr id="29" name="text-161"/>
          <p:cNvSpPr txBox="1"/>
          <p:nvPr/>
        </p:nvSpPr>
        <p:spPr>
          <a:xfrm>
            <a:off x="5623560" y="3566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Service :8085</a:t>
            </a:r>
            <a:endParaRPr lang="en-US" sz="1100" dirty="0"/>
          </a:p>
        </p:txBody>
      </p:sp>
      <p:pic>
        <p:nvPicPr>
          <p:cNvPr id="30" name="db-162" descr="/tmp/claude-0/-home-user/472ad997-b1d8-52e7-b63c-66353a6ff570/scratchpad/deck/assets/icon-database-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3931920"/>
            <a:ext cx="274320" cy="274320"/>
          </a:xfrm>
          <a:prstGeom prst="rect">
            <a:avLst/>
          </a:prstGeom>
        </p:spPr>
      </p:pic>
      <p:sp>
        <p:nvSpPr>
          <p:cNvPr id="31" name="card-163"/>
          <p:cNvSpPr/>
          <p:nvPr/>
        </p:nvSpPr>
        <p:spPr>
          <a:xfrm>
            <a:off x="7543800" y="3154680"/>
            <a:ext cx="1828800" cy="1234440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 w="12700">
            <a:solidFill>
              <a:srgbClr val="EAD9DF"/>
            </a:solidFill>
            <a:prstDash val="solid"/>
          </a:ln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32" name="text-164"/>
          <p:cNvSpPr txBox="1"/>
          <p:nvPr/>
        </p:nvSpPr>
        <p:spPr>
          <a:xfrm>
            <a:off x="7635240" y="326440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Trigger</a:t>
            </a:r>
            <a:endParaRPr lang="en-US" sz="1350" dirty="0"/>
          </a:p>
        </p:txBody>
      </p:sp>
      <p:sp>
        <p:nvSpPr>
          <p:cNvPr id="33" name="text-165"/>
          <p:cNvSpPr txBox="1"/>
          <p:nvPr/>
        </p:nvSpPr>
        <p:spPr>
          <a:xfrm>
            <a:off x="7635240" y="3566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Service :8087</a:t>
            </a:r>
            <a:endParaRPr lang="en-US" sz="1100" dirty="0"/>
          </a:p>
        </p:txBody>
      </p:sp>
      <p:pic>
        <p:nvPicPr>
          <p:cNvPr id="34" name="db-166" descr="/tmp/claude-0/-home-user/472ad997-b1d8-52e7-b63c-66353a6ff570/scratchpad/deck/assets/icon-database-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752" y="3931920"/>
            <a:ext cx="274320" cy="274320"/>
          </a:xfrm>
          <a:prstGeom prst="rect">
            <a:avLst/>
          </a:prstGeom>
        </p:spPr>
      </p:pic>
      <p:sp>
        <p:nvSpPr>
          <p:cNvPr id="35" name="card-167"/>
          <p:cNvSpPr/>
          <p:nvPr/>
        </p:nvSpPr>
        <p:spPr>
          <a:xfrm>
            <a:off x="9555480" y="3154680"/>
            <a:ext cx="1828800" cy="1234440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 w="12700">
            <a:solidFill>
              <a:srgbClr val="EAD9DF"/>
            </a:solidFill>
            <a:prstDash val="solid"/>
          </a:ln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36" name="text-168"/>
          <p:cNvSpPr txBox="1"/>
          <p:nvPr/>
        </p:nvSpPr>
        <p:spPr>
          <a:xfrm>
            <a:off x="9646920" y="326440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Financial</a:t>
            </a:r>
            <a:endParaRPr lang="en-US" sz="1350" dirty="0"/>
          </a:p>
        </p:txBody>
      </p:sp>
      <p:sp>
        <p:nvSpPr>
          <p:cNvPr id="37" name="text-169"/>
          <p:cNvSpPr txBox="1"/>
          <p:nvPr/>
        </p:nvSpPr>
        <p:spPr>
          <a:xfrm>
            <a:off x="9646920" y="3566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Service :8088</a:t>
            </a:r>
            <a:endParaRPr lang="en-US" sz="1100" dirty="0"/>
          </a:p>
        </p:txBody>
      </p:sp>
      <p:pic>
        <p:nvPicPr>
          <p:cNvPr id="38" name="db-170" descr="/tmp/claude-0/-home-user/472ad997-b1d8-52e7-b63c-66353a6ff570/scratchpad/deck/assets/icon-database-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3931920"/>
            <a:ext cx="274320" cy="274320"/>
          </a:xfrm>
          <a:prstGeom prst="rect">
            <a:avLst/>
          </a:prstGeom>
        </p:spPr>
      </p:pic>
      <p:sp>
        <p:nvSpPr>
          <p:cNvPr id="39" name="arrow-171"/>
          <p:cNvSpPr/>
          <p:nvPr/>
        </p:nvSpPr>
        <p:spPr>
          <a:xfrm flipV="1">
            <a:off x="4983480" y="3040380"/>
            <a:ext cx="548640" cy="452628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40" name="icon-bg-172"/>
          <p:cNvSpPr/>
          <p:nvPr/>
        </p:nvSpPr>
        <p:spPr>
          <a:xfrm>
            <a:off x="548640" y="4800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1" name="icon-173" descr="/tmp/claude-0/-home-user/472ad997-b1d8-52e7-b63c-66353a6ff570/scratchpad/deck/assets/icon-network-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937760"/>
            <a:ext cx="274320" cy="274320"/>
          </a:xfrm>
          <a:prstGeom prst="rect">
            <a:avLst/>
          </a:prstGeom>
        </p:spPr>
      </p:pic>
      <p:sp>
        <p:nvSpPr>
          <p:cNvPr id="42" name="text-174"/>
          <p:cNvSpPr txBox="1"/>
          <p:nvPr/>
        </p:nvSpPr>
        <p:spPr>
          <a:xfrm>
            <a:off x="1234440" y="4754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Service-to-service calls</a:t>
            </a:r>
            <a:endParaRPr lang="en-US" sz="1400" dirty="0"/>
          </a:p>
        </p:txBody>
      </p:sp>
      <p:sp>
        <p:nvSpPr>
          <p:cNvPr id="43" name="text-175"/>
          <p:cNvSpPr txBox="1"/>
          <p:nvPr/>
        </p:nvSpPr>
        <p:spPr>
          <a:xfrm>
            <a:off x="1234440" y="5093208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REST over @LoadBalanced WebClient, resolved through Eureka, with an internal gateway key</a:t>
            </a:r>
            <a:endParaRPr lang="en-US" sz="1200" dirty="0"/>
          </a:p>
        </p:txBody>
      </p:sp>
      <p:sp>
        <p:nvSpPr>
          <p:cNvPr id="44" name="icon-bg-176"/>
          <p:cNvSpPr/>
          <p:nvPr/>
        </p:nvSpPr>
        <p:spPr>
          <a:xfrm>
            <a:off x="4297680" y="48006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5" name="icon-177" descr="/tmp/claude-0/-home-user/472ad997-b1d8-52e7-b63c-66353a6ff570/scratchpad/deck/assets/icon-database-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4840" y="4937760"/>
            <a:ext cx="274320" cy="274320"/>
          </a:xfrm>
          <a:prstGeom prst="rect">
            <a:avLst/>
          </a:prstGeom>
        </p:spPr>
      </p:pic>
      <p:sp>
        <p:nvSpPr>
          <p:cNvPr id="46" name="text-178"/>
          <p:cNvSpPr txBox="1"/>
          <p:nvPr/>
        </p:nvSpPr>
        <p:spPr>
          <a:xfrm>
            <a:off x="4983480" y="4754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Database per service</a:t>
            </a:r>
            <a:endParaRPr lang="en-US" sz="1400" dirty="0"/>
          </a:p>
        </p:txBody>
      </p:sp>
      <p:sp>
        <p:nvSpPr>
          <p:cNvPr id="47" name="text-179"/>
          <p:cNvSpPr txBox="1"/>
          <p:nvPr/>
        </p:nvSpPr>
        <p:spPr>
          <a:xfrm>
            <a:off x="4983480" y="5093208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Each service owns an H2 file database, accessed reactively with R2DBC</a:t>
            </a:r>
            <a:endParaRPr lang="en-US" sz="1200" dirty="0"/>
          </a:p>
        </p:txBody>
      </p:sp>
      <p:sp>
        <p:nvSpPr>
          <p:cNvPr id="48" name="icon-bg-180"/>
          <p:cNvSpPr/>
          <p:nvPr/>
        </p:nvSpPr>
        <p:spPr>
          <a:xfrm>
            <a:off x="8046720" y="4800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9" name="icon-181" descr="/tmp/claude-0/-home-user/472ad997-b1d8-52e7-b63c-66353a6ff570/scratchpad/deck/assets/icon-bell-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83880" y="4937760"/>
            <a:ext cx="274320" cy="274320"/>
          </a:xfrm>
          <a:prstGeom prst="rect">
            <a:avLst/>
          </a:prstGeom>
        </p:spPr>
      </p:pic>
      <p:sp>
        <p:nvSpPr>
          <p:cNvPr id="50" name="text-182"/>
          <p:cNvSpPr txBox="1"/>
          <p:nvPr/>
        </p:nvSpPr>
        <p:spPr>
          <a:xfrm>
            <a:off x="8732520" y="4754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Live updates</a:t>
            </a:r>
            <a:endParaRPr lang="en-US" sz="1400" dirty="0"/>
          </a:p>
        </p:txBody>
      </p:sp>
      <p:sp>
        <p:nvSpPr>
          <p:cNvPr id="51" name="text-183"/>
          <p:cNvSpPr txBox="1"/>
          <p:nvPr/>
        </p:nvSpPr>
        <p:spPr>
          <a:xfrm>
            <a:off x="8732520" y="5093208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Notification service streams new notifications to the browser over Server-Sent Events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2"/>
                </a:solidFill>
              </a:rPr>
              <a:t>MICROSERVICES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business services, 143 REST endpoints</a:t>
            </a:r>
            <a:endParaRPr lang="en-US" sz="3200" dirty="0"/>
          </a:p>
        </p:txBody>
      </p:sp>
      <p:sp>
        <p:nvSpPr>
          <p:cNvPr id="4" name="card-184"/>
          <p:cNvSpPr/>
          <p:nvPr/>
        </p:nvSpPr>
        <p:spPr>
          <a:xfrm>
            <a:off x="548640" y="1600200"/>
            <a:ext cx="3520440" cy="19659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12700">
            <a:solidFill>
              <a:srgbClr val="EAD9DF"/>
            </a:solidFill>
            <a:prstDash val="solid"/>
          </a:ln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5" name="icon-bg-185"/>
          <p:cNvSpPr/>
          <p:nvPr/>
        </p:nvSpPr>
        <p:spPr>
          <a:xfrm>
            <a:off x="7772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186" descr="/tmp/claude-0/-home-user/472ad997-b1d8-52e7-b63c-66353a6ff570/scratchpad/deck/assets/icon-lock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1970532"/>
            <a:ext cx="283464" cy="283464"/>
          </a:xfrm>
          <a:prstGeom prst="rect">
            <a:avLst/>
          </a:prstGeom>
        </p:spPr>
      </p:pic>
      <p:sp>
        <p:nvSpPr>
          <p:cNvPr id="7" name="text-187"/>
          <p:cNvSpPr txBox="1"/>
          <p:nvPr/>
        </p:nvSpPr>
        <p:spPr>
          <a:xfrm>
            <a:off x="1463040" y="18013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</a:t>
            </a:r>
            <a:endParaRPr lang="en-US" sz="1600" dirty="0"/>
          </a:p>
        </p:txBody>
      </p:sp>
      <p:sp>
        <p:nvSpPr>
          <p:cNvPr id="8" name="text-188"/>
          <p:cNvSpPr txBox="1"/>
          <p:nvPr/>
        </p:nvSpPr>
        <p:spPr>
          <a:xfrm>
            <a:off x="1463040" y="21122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Port 8081</a:t>
            </a:r>
            <a:endParaRPr lang="en-US" sz="1100" dirty="0"/>
          </a:p>
        </p:txBody>
      </p:sp>
      <p:sp>
        <p:nvSpPr>
          <p:cNvPr id="9" name="text-189"/>
          <p:cNvSpPr txBox="1"/>
          <p:nvPr/>
        </p:nvSpPr>
        <p:spPr>
          <a:xfrm>
            <a:off x="3154680" y="17373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400" dirty="0"/>
          </a:p>
        </p:txBody>
      </p:sp>
      <p:sp>
        <p:nvSpPr>
          <p:cNvPr id="10" name="text-190"/>
          <p:cNvSpPr txBox="1"/>
          <p:nvPr/>
        </p:nvSpPr>
        <p:spPr>
          <a:xfrm>
            <a:off x="2971800" y="21671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endpoints</a:t>
            </a:r>
            <a:endParaRPr lang="en-US" sz="1000" dirty="0"/>
          </a:p>
        </p:txBody>
      </p:sp>
      <p:sp>
        <p:nvSpPr>
          <p:cNvPr id="11" name="text-191"/>
          <p:cNvSpPr txBox="1"/>
          <p:nvPr/>
        </p:nvSpPr>
        <p:spPr>
          <a:xfrm>
            <a:off x="777240" y="25603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Registration, login, JWT access &amp; refresh tokens, profiles, admin user management</a:t>
            </a:r>
            <a:endParaRPr lang="en-US" sz="1400" dirty="0"/>
          </a:p>
        </p:txBody>
      </p:sp>
      <p:sp>
        <p:nvSpPr>
          <p:cNvPr id="12" name="card-192"/>
          <p:cNvSpPr/>
          <p:nvPr/>
        </p:nvSpPr>
        <p:spPr>
          <a:xfrm>
            <a:off x="4325112" y="1600200"/>
            <a:ext cx="3520440" cy="19659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12700">
            <a:solidFill>
              <a:srgbClr val="EAD9DF"/>
            </a:solidFill>
            <a:prstDash val="solid"/>
          </a:ln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13" name="icon-bg-193"/>
          <p:cNvSpPr/>
          <p:nvPr/>
        </p:nvSpPr>
        <p:spPr>
          <a:xfrm>
            <a:off x="4553712" y="182880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icon-194" descr="/tmp/claude-0/-home-user/472ad997-b1d8-52e7-b63c-66353a6ff570/scratchpad/deck/assets/icon-file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5444" y="1970532"/>
            <a:ext cx="283464" cy="283464"/>
          </a:xfrm>
          <a:prstGeom prst="rect">
            <a:avLst/>
          </a:prstGeom>
        </p:spPr>
      </p:pic>
      <p:sp>
        <p:nvSpPr>
          <p:cNvPr id="15" name="text-195"/>
          <p:cNvSpPr txBox="1"/>
          <p:nvPr/>
        </p:nvSpPr>
        <p:spPr>
          <a:xfrm>
            <a:off x="5239512" y="18013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&amp; Policy</a:t>
            </a:r>
            <a:endParaRPr lang="en-US" sz="1600" dirty="0"/>
          </a:p>
        </p:txBody>
      </p:sp>
      <p:sp>
        <p:nvSpPr>
          <p:cNvPr id="16" name="text-196"/>
          <p:cNvSpPr txBox="1"/>
          <p:nvPr/>
        </p:nvSpPr>
        <p:spPr>
          <a:xfrm>
            <a:off x="5239512" y="21122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Port 8082</a:t>
            </a:r>
            <a:endParaRPr lang="en-US" sz="1100" dirty="0"/>
          </a:p>
        </p:txBody>
      </p:sp>
      <p:sp>
        <p:nvSpPr>
          <p:cNvPr id="17" name="text-197"/>
          <p:cNvSpPr txBox="1"/>
          <p:nvPr/>
        </p:nvSpPr>
        <p:spPr>
          <a:xfrm>
            <a:off x="6931152" y="17373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2400" dirty="0"/>
          </a:p>
        </p:txBody>
      </p:sp>
      <p:sp>
        <p:nvSpPr>
          <p:cNvPr id="18" name="text-198"/>
          <p:cNvSpPr txBox="1"/>
          <p:nvPr/>
        </p:nvSpPr>
        <p:spPr>
          <a:xfrm>
            <a:off x="6748272" y="21671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endpoints</a:t>
            </a:r>
            <a:endParaRPr lang="en-US" sz="1000" dirty="0"/>
          </a:p>
        </p:txBody>
      </p:sp>
      <p:sp>
        <p:nvSpPr>
          <p:cNvPr id="19" name="text-199"/>
          <p:cNvSpPr txBox="1"/>
          <p:nvPr/>
        </p:nvSpPr>
        <p:spPr>
          <a:xfrm>
            <a:off x="4553712" y="25603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Product catalogue, trigger rules &amp; threshold history, applications, underwriting, certificates, renewals</a:t>
            </a:r>
            <a:endParaRPr lang="en-US" sz="1400" dirty="0"/>
          </a:p>
        </p:txBody>
      </p:sp>
      <p:sp>
        <p:nvSpPr>
          <p:cNvPr id="20" name="card-200"/>
          <p:cNvSpPr/>
          <p:nvPr/>
        </p:nvSpPr>
        <p:spPr>
          <a:xfrm>
            <a:off x="8101584" y="1600200"/>
            <a:ext cx="3520440" cy="19659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12700">
            <a:solidFill>
              <a:srgbClr val="EAD9DF"/>
            </a:solidFill>
            <a:prstDash val="solid"/>
          </a:ln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21" name="icon-bg-201"/>
          <p:cNvSpPr/>
          <p:nvPr/>
        </p:nvSpPr>
        <p:spPr>
          <a:xfrm>
            <a:off x="8330184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con-202" descr="/tmp/claude-0/-home-user/472ad997-b1d8-52e7-b63c-66353a6ff570/scratchpad/deck/assets/icon-receipt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1916" y="1970532"/>
            <a:ext cx="283464" cy="283464"/>
          </a:xfrm>
          <a:prstGeom prst="rect">
            <a:avLst/>
          </a:prstGeom>
        </p:spPr>
      </p:pic>
      <p:sp>
        <p:nvSpPr>
          <p:cNvPr id="23" name="text-203"/>
          <p:cNvSpPr txBox="1"/>
          <p:nvPr/>
        </p:nvSpPr>
        <p:spPr>
          <a:xfrm>
            <a:off x="9015984" y="18013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Claims</a:t>
            </a:r>
            <a:endParaRPr lang="en-US" sz="1600" dirty="0"/>
          </a:p>
        </p:txBody>
      </p:sp>
      <p:sp>
        <p:nvSpPr>
          <p:cNvPr id="24" name="text-204"/>
          <p:cNvSpPr txBox="1"/>
          <p:nvPr/>
        </p:nvSpPr>
        <p:spPr>
          <a:xfrm>
            <a:off x="9015984" y="21122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Port 8083</a:t>
            </a:r>
            <a:endParaRPr lang="en-US" sz="1100" dirty="0"/>
          </a:p>
        </p:txBody>
      </p:sp>
      <p:sp>
        <p:nvSpPr>
          <p:cNvPr id="25" name="text-205"/>
          <p:cNvSpPr txBox="1"/>
          <p:nvPr/>
        </p:nvSpPr>
        <p:spPr>
          <a:xfrm>
            <a:off x="10707624" y="17373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2400" dirty="0"/>
          </a:p>
        </p:txBody>
      </p:sp>
      <p:sp>
        <p:nvSpPr>
          <p:cNvPr id="26" name="text-206"/>
          <p:cNvSpPr txBox="1"/>
          <p:nvPr/>
        </p:nvSpPr>
        <p:spPr>
          <a:xfrm>
            <a:off x="10524744" y="21671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endpoints</a:t>
            </a:r>
            <a:endParaRPr lang="en-US" sz="1000" dirty="0"/>
          </a:p>
        </p:txBody>
      </p:sp>
      <p:sp>
        <p:nvSpPr>
          <p:cNvPr id="27" name="text-207"/>
          <p:cNvSpPr txBox="1"/>
          <p:nvPr/>
        </p:nvSpPr>
        <p:spPr>
          <a:xfrm>
            <a:off x="8330184" y="25603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Automatic and manual claims, evidence documents, officer review, timeline</a:t>
            </a:r>
            <a:endParaRPr lang="en-US" sz="1400" dirty="0"/>
          </a:p>
        </p:txBody>
      </p:sp>
      <p:sp>
        <p:nvSpPr>
          <p:cNvPr id="28" name="card-208"/>
          <p:cNvSpPr/>
          <p:nvPr/>
        </p:nvSpPr>
        <p:spPr>
          <a:xfrm>
            <a:off x="548640" y="3840480"/>
            <a:ext cx="3520440" cy="19659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12700">
            <a:solidFill>
              <a:srgbClr val="EAD9DF"/>
            </a:solidFill>
            <a:prstDash val="solid"/>
          </a:ln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29" name="icon-bg-209"/>
          <p:cNvSpPr/>
          <p:nvPr/>
        </p:nvSpPr>
        <p:spPr>
          <a:xfrm>
            <a:off x="777240" y="406908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0" name="icon-210" descr="/tmp/claude-0/-home-user/472ad997-b1d8-52e7-b63c-66353a6ff570/scratchpad/deck/assets/icon-bell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" y="4210812"/>
            <a:ext cx="283464" cy="283464"/>
          </a:xfrm>
          <a:prstGeom prst="rect">
            <a:avLst/>
          </a:prstGeom>
        </p:spPr>
      </p:pic>
      <p:sp>
        <p:nvSpPr>
          <p:cNvPr id="31" name="text-211"/>
          <p:cNvSpPr txBox="1"/>
          <p:nvPr/>
        </p:nvSpPr>
        <p:spPr>
          <a:xfrm>
            <a:off x="1463040" y="404164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</a:t>
            </a:r>
            <a:endParaRPr lang="en-US" sz="1600" dirty="0"/>
          </a:p>
        </p:txBody>
      </p:sp>
      <p:sp>
        <p:nvSpPr>
          <p:cNvPr id="32" name="text-212"/>
          <p:cNvSpPr txBox="1"/>
          <p:nvPr/>
        </p:nvSpPr>
        <p:spPr>
          <a:xfrm>
            <a:off x="1463040" y="43525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Port 8085</a:t>
            </a:r>
            <a:endParaRPr lang="en-US" sz="1100" dirty="0"/>
          </a:p>
        </p:txBody>
      </p:sp>
      <p:sp>
        <p:nvSpPr>
          <p:cNvPr id="33" name="text-213"/>
          <p:cNvSpPr txBox="1"/>
          <p:nvPr/>
        </p:nvSpPr>
        <p:spPr>
          <a:xfrm>
            <a:off x="3154680" y="39776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400" dirty="0"/>
          </a:p>
        </p:txBody>
      </p:sp>
      <p:sp>
        <p:nvSpPr>
          <p:cNvPr id="34" name="text-214"/>
          <p:cNvSpPr txBox="1"/>
          <p:nvPr/>
        </p:nvSpPr>
        <p:spPr>
          <a:xfrm>
            <a:off x="2971800" y="44074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endpoints</a:t>
            </a:r>
            <a:endParaRPr lang="en-US" sz="1000" dirty="0"/>
          </a:p>
        </p:txBody>
      </p:sp>
      <p:sp>
        <p:nvSpPr>
          <p:cNvPr id="35" name="text-215"/>
          <p:cNvSpPr txBox="1"/>
          <p:nvPr/>
        </p:nvSpPr>
        <p:spPr>
          <a:xfrm>
            <a:off x="777240" y="48006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In-app notifications, unread count, live SSE stream, admin view</a:t>
            </a:r>
            <a:endParaRPr lang="en-US" sz="1400" dirty="0"/>
          </a:p>
        </p:txBody>
      </p:sp>
      <p:sp>
        <p:nvSpPr>
          <p:cNvPr id="36" name="card-216"/>
          <p:cNvSpPr/>
          <p:nvPr/>
        </p:nvSpPr>
        <p:spPr>
          <a:xfrm>
            <a:off x="4325112" y="3840480"/>
            <a:ext cx="3520440" cy="19659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12700">
            <a:solidFill>
              <a:srgbClr val="EAD9DF"/>
            </a:solidFill>
            <a:prstDash val="solid"/>
          </a:ln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37" name="icon-bg-217"/>
          <p:cNvSpPr/>
          <p:nvPr/>
        </p:nvSpPr>
        <p:spPr>
          <a:xfrm>
            <a:off x="4553712" y="40690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8" name="icon-218" descr="/tmp/claude-0/-home-user/472ad997-b1d8-52e7-b63c-66353a6ff570/scratchpad/deck/assets/icon-rain-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5444" y="4210812"/>
            <a:ext cx="283464" cy="283464"/>
          </a:xfrm>
          <a:prstGeom prst="rect">
            <a:avLst/>
          </a:prstGeom>
        </p:spPr>
      </p:pic>
      <p:sp>
        <p:nvSpPr>
          <p:cNvPr id="39" name="text-219"/>
          <p:cNvSpPr txBox="1"/>
          <p:nvPr/>
        </p:nvSpPr>
        <p:spPr>
          <a:xfrm>
            <a:off x="5239512" y="404164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</a:t>
            </a:r>
            <a:endParaRPr lang="en-US" sz="1600" dirty="0"/>
          </a:p>
        </p:txBody>
      </p:sp>
      <p:sp>
        <p:nvSpPr>
          <p:cNvPr id="40" name="text-220"/>
          <p:cNvSpPr txBox="1"/>
          <p:nvPr/>
        </p:nvSpPr>
        <p:spPr>
          <a:xfrm>
            <a:off x="5239512" y="43525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Port 8087</a:t>
            </a:r>
            <a:endParaRPr lang="en-US" sz="1100" dirty="0"/>
          </a:p>
        </p:txBody>
      </p:sp>
      <p:sp>
        <p:nvSpPr>
          <p:cNvPr id="41" name="text-221"/>
          <p:cNvSpPr txBox="1"/>
          <p:nvPr/>
        </p:nvSpPr>
        <p:spPr>
          <a:xfrm>
            <a:off x="6931152" y="39776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2400" dirty="0"/>
          </a:p>
        </p:txBody>
      </p:sp>
      <p:sp>
        <p:nvSpPr>
          <p:cNvPr id="42" name="text-222"/>
          <p:cNvSpPr txBox="1"/>
          <p:nvPr/>
        </p:nvSpPr>
        <p:spPr>
          <a:xfrm>
            <a:off x="6748272" y="44074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endpoints</a:t>
            </a:r>
            <a:endParaRPr lang="en-US" sz="1000" dirty="0"/>
          </a:p>
        </p:txBody>
      </p:sp>
      <p:sp>
        <p:nvSpPr>
          <p:cNvPr id="43" name="text-223"/>
          <p:cNvSpPr txBox="1"/>
          <p:nvPr/>
        </p:nvSpPr>
        <p:spPr>
          <a:xfrm>
            <a:off x="4553712" y="48006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Zones, perils, live readings, current measurements, verified trigger events</a:t>
            </a:r>
            <a:endParaRPr lang="en-US" sz="1400" dirty="0"/>
          </a:p>
        </p:txBody>
      </p:sp>
      <p:sp>
        <p:nvSpPr>
          <p:cNvPr id="44" name="card-224"/>
          <p:cNvSpPr/>
          <p:nvPr/>
        </p:nvSpPr>
        <p:spPr>
          <a:xfrm>
            <a:off x="8101584" y="3840480"/>
            <a:ext cx="3520440" cy="19659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12700">
            <a:solidFill>
              <a:srgbClr val="EAD9DF"/>
            </a:solidFill>
            <a:prstDash val="solid"/>
          </a:ln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45" name="icon-bg-225"/>
          <p:cNvSpPr/>
          <p:nvPr/>
        </p:nvSpPr>
        <p:spPr>
          <a:xfrm>
            <a:off x="8330184" y="406908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6" name="icon-226" descr="/tmp/claude-0/-home-user/472ad997-b1d8-52e7-b63c-66353a6ff570/scratchpad/deck/assets/icon-wallet-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1916" y="4210812"/>
            <a:ext cx="283464" cy="283464"/>
          </a:xfrm>
          <a:prstGeom prst="rect">
            <a:avLst/>
          </a:prstGeom>
        </p:spPr>
      </p:pic>
      <p:sp>
        <p:nvSpPr>
          <p:cNvPr id="47" name="text-227"/>
          <p:cNvSpPr txBox="1"/>
          <p:nvPr/>
        </p:nvSpPr>
        <p:spPr>
          <a:xfrm>
            <a:off x="9015984" y="404164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</a:t>
            </a:r>
            <a:endParaRPr lang="en-US" sz="1600" dirty="0"/>
          </a:p>
        </p:txBody>
      </p:sp>
      <p:sp>
        <p:nvSpPr>
          <p:cNvPr id="48" name="text-228"/>
          <p:cNvSpPr txBox="1"/>
          <p:nvPr/>
        </p:nvSpPr>
        <p:spPr>
          <a:xfrm>
            <a:off x="9015984" y="43525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Port 8088</a:t>
            </a:r>
            <a:endParaRPr lang="en-US" sz="1100" dirty="0"/>
          </a:p>
        </p:txBody>
      </p:sp>
      <p:sp>
        <p:nvSpPr>
          <p:cNvPr id="49" name="text-229"/>
          <p:cNvSpPr txBox="1"/>
          <p:nvPr/>
        </p:nvSpPr>
        <p:spPr>
          <a:xfrm>
            <a:off x="10707624" y="39776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2400" dirty="0"/>
          </a:p>
        </p:txBody>
      </p:sp>
      <p:sp>
        <p:nvSpPr>
          <p:cNvPr id="50" name="text-230"/>
          <p:cNvSpPr txBox="1"/>
          <p:nvPr/>
        </p:nvSpPr>
        <p:spPr>
          <a:xfrm>
            <a:off x="10524744" y="44074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endpoints</a:t>
            </a:r>
            <a:endParaRPr lang="en-US" sz="1000" dirty="0"/>
          </a:p>
        </p:txBody>
      </p:sp>
      <p:sp>
        <p:nvSpPr>
          <p:cNvPr id="51" name="text-231"/>
          <p:cNvSpPr txBox="1"/>
          <p:nvPr/>
        </p:nvSpPr>
        <p:spPr>
          <a:xfrm>
            <a:off x="8330184" y="48006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Pricing rules, quotes, payments, payouts, receipts, ledger, reconciliation</a:t>
            </a:r>
            <a:endParaRPr lang="en-US" sz="1400" dirty="0"/>
          </a:p>
        </p:txBody>
      </p:sp>
      <p:sp>
        <p:nvSpPr>
          <p:cNvPr id="52" name="text-232"/>
          <p:cNvSpPr txBox="1"/>
          <p:nvPr/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Plus the API Gateway (:8080) and Eureka server (:8761) for routing and discovery.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2"/>
                </a:solidFill>
              </a:rPr>
              <a:t>FRONTEND – ANGULAR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role-based Angular 21 single-page app</a:t>
            </a:r>
            <a:endParaRPr lang="en-US" sz="3200" dirty="0"/>
          </a:p>
        </p:txBody>
      </p:sp>
      <p:sp>
        <p:nvSpPr>
          <p:cNvPr id="4" name="icon-bg-233"/>
          <p:cNvSpPr/>
          <p:nvPr/>
        </p:nvSpPr>
        <p:spPr>
          <a:xfrm>
            <a:off x="548640" y="16002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234" descr="/tmp/claude-0/-home-user/472ad997-b1d8-52e7-b63c-66353a6ff570/scratchpad/deck/assets/icon-layers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1741932"/>
            <a:ext cx="283464" cy="283464"/>
          </a:xfrm>
          <a:prstGeom prst="rect">
            <a:avLst/>
          </a:prstGeom>
        </p:spPr>
      </p:pic>
      <p:sp>
        <p:nvSpPr>
          <p:cNvPr id="6" name="text-235"/>
          <p:cNvSpPr txBox="1"/>
          <p:nvPr/>
        </p:nvSpPr>
        <p:spPr>
          <a:xfrm>
            <a:off x="1280160" y="158191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Standalone components &amp; lazy routes</a:t>
            </a:r>
            <a:endParaRPr lang="en-US" sz="1500" dirty="0"/>
          </a:p>
        </p:txBody>
      </p:sp>
      <p:sp>
        <p:nvSpPr>
          <p:cNvPr id="7" name="text-236"/>
          <p:cNvSpPr txBox="1"/>
          <p:nvPr/>
        </p:nvSpPr>
        <p:spPr>
          <a:xfrm>
            <a:off x="1280160" y="189280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5 role layouts: public, customer, underwriter, claims officer, admin</a:t>
            </a:r>
            <a:endParaRPr lang="en-US" sz="1250" dirty="0"/>
          </a:p>
        </p:txBody>
      </p:sp>
      <p:sp>
        <p:nvSpPr>
          <p:cNvPr id="8" name="icon-bg-237"/>
          <p:cNvSpPr/>
          <p:nvPr/>
        </p:nvSpPr>
        <p:spPr>
          <a:xfrm>
            <a:off x="548640" y="2496312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icon-238" descr="/tmp/claude-0/-home-user/472ad997-b1d8-52e7-b63c-66353a6ff570/scratchpad/deck/assets/icon-cube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2638044"/>
            <a:ext cx="283464" cy="283464"/>
          </a:xfrm>
          <a:prstGeom prst="rect">
            <a:avLst/>
          </a:prstGeom>
        </p:spPr>
      </p:pic>
      <p:sp>
        <p:nvSpPr>
          <p:cNvPr id="10" name="text-239"/>
          <p:cNvSpPr txBox="1"/>
          <p:nvPr/>
        </p:nvSpPr>
        <p:spPr>
          <a:xfrm>
            <a:off x="1280160" y="247802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NgRx 21 store, effects &amp; signals</a:t>
            </a:r>
            <a:endParaRPr lang="en-US" sz="1500" dirty="0"/>
          </a:p>
        </p:txBody>
      </p:sp>
      <p:sp>
        <p:nvSpPr>
          <p:cNvPr id="11" name="text-240"/>
          <p:cNvSpPr txBox="1"/>
          <p:nvPr/>
        </p:nvSpPr>
        <p:spPr>
          <a:xfrm>
            <a:off x="1280160" y="27889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Predictable state for policies, claims, payments and notifications</a:t>
            </a:r>
            <a:endParaRPr lang="en-US" sz="1250" dirty="0"/>
          </a:p>
        </p:txBody>
      </p:sp>
      <p:sp>
        <p:nvSpPr>
          <p:cNvPr id="12" name="icon-bg-241"/>
          <p:cNvSpPr/>
          <p:nvPr/>
        </p:nvSpPr>
        <p:spPr>
          <a:xfrm>
            <a:off x="548640" y="3392424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-242" descr="/tmp/claude-0/-home-user/472ad997-b1d8-52e7-b63c-66353a6ff570/scratchpad/deck/assets/icon-key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3534156"/>
            <a:ext cx="283464" cy="283464"/>
          </a:xfrm>
          <a:prstGeom prst="rect">
            <a:avLst/>
          </a:prstGeom>
        </p:spPr>
      </p:pic>
      <p:sp>
        <p:nvSpPr>
          <p:cNvPr id="14" name="text-243"/>
          <p:cNvSpPr txBox="1"/>
          <p:nvPr/>
        </p:nvSpPr>
        <p:spPr>
          <a:xfrm>
            <a:off x="1280160" y="337413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HTTP interceptors</a:t>
            </a:r>
            <a:endParaRPr lang="en-US" sz="1500" dirty="0"/>
          </a:p>
        </p:txBody>
      </p:sp>
      <p:sp>
        <p:nvSpPr>
          <p:cNvPr id="15" name="text-244"/>
          <p:cNvSpPr txBox="1"/>
          <p:nvPr/>
        </p:nvSpPr>
        <p:spPr>
          <a:xfrm>
            <a:off x="1280160" y="368503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Attach the JWT; refresh an expired token before sending</a:t>
            </a:r>
            <a:endParaRPr lang="en-US" sz="1250" dirty="0"/>
          </a:p>
        </p:txBody>
      </p:sp>
      <p:sp>
        <p:nvSpPr>
          <p:cNvPr id="16" name="icon-bg-245"/>
          <p:cNvSpPr/>
          <p:nvPr/>
        </p:nvSpPr>
        <p:spPr>
          <a:xfrm>
            <a:off x="548640" y="4288536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icon-246" descr="/tmp/claude-0/-home-user/472ad997-b1d8-52e7-b63c-66353a6ff570/scratchpad/deck/assets/icon-bell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4430268"/>
            <a:ext cx="283464" cy="283464"/>
          </a:xfrm>
          <a:prstGeom prst="rect">
            <a:avLst/>
          </a:prstGeom>
        </p:spPr>
      </p:pic>
      <p:sp>
        <p:nvSpPr>
          <p:cNvPr id="18" name="text-247"/>
          <p:cNvSpPr txBox="1"/>
          <p:nvPr/>
        </p:nvSpPr>
        <p:spPr>
          <a:xfrm>
            <a:off x="1280160" y="427024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Live notifications</a:t>
            </a:r>
            <a:endParaRPr lang="en-US" sz="1500" dirty="0"/>
          </a:p>
        </p:txBody>
      </p:sp>
      <p:sp>
        <p:nvSpPr>
          <p:cNvPr id="19" name="text-248"/>
          <p:cNvSpPr txBox="1"/>
          <p:nvPr/>
        </p:nvSpPr>
        <p:spPr>
          <a:xfrm>
            <a:off x="1280160" y="458114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EventSource stream → bell, toast and pages that reload themselves</a:t>
            </a:r>
            <a:endParaRPr lang="en-US" sz="1250" dirty="0"/>
          </a:p>
        </p:txBody>
      </p:sp>
      <p:sp>
        <p:nvSpPr>
          <p:cNvPr id="20" name="icon-bg-249"/>
          <p:cNvSpPr/>
          <p:nvPr/>
        </p:nvSpPr>
        <p:spPr>
          <a:xfrm>
            <a:off x="548640" y="518464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con-250" descr="/tmp/claude-0/-home-user/472ad997-b1d8-52e7-b63c-66353a6ff570/scratchpad/deck/assets/icon-map-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" y="5326380"/>
            <a:ext cx="283464" cy="283464"/>
          </a:xfrm>
          <a:prstGeom prst="rect">
            <a:avLst/>
          </a:prstGeom>
        </p:spPr>
      </p:pic>
      <p:sp>
        <p:nvSpPr>
          <p:cNvPr id="22" name="text-251"/>
          <p:cNvSpPr txBox="1"/>
          <p:nvPr/>
        </p:nvSpPr>
        <p:spPr>
          <a:xfrm>
            <a:off x="1280160" y="51663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Tailwind CSS 4 &amp; Leaflet</a:t>
            </a:r>
            <a:endParaRPr lang="en-US" sz="1500" dirty="0"/>
          </a:p>
        </p:txBody>
      </p:sp>
      <p:sp>
        <p:nvSpPr>
          <p:cNvPr id="23" name="text-252"/>
          <p:cNvSpPr txBox="1"/>
          <p:nvPr/>
        </p:nvSpPr>
        <p:spPr>
          <a:xfrm>
            <a:off x="1280160" y="547725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Consistent design system and a live zone map</a:t>
            </a:r>
            <a:endParaRPr lang="en-US" sz="1250" dirty="0"/>
          </a:p>
        </p:txBody>
      </p:sp>
      <p:sp>
        <p:nvSpPr>
          <p:cNvPr id="24" name="card-253"/>
          <p:cNvSpPr/>
          <p:nvPr/>
        </p:nvSpPr>
        <p:spPr>
          <a:xfrm>
            <a:off x="6190488" y="1618488"/>
            <a:ext cx="5495544" cy="3155252"/>
          </a:xfrm>
          <a:prstGeom prst="roundRect">
            <a:avLst>
              <a:gd name="adj" fmla="val 289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pic>
        <p:nvPicPr>
          <p:cNvPr id="25" name="shot-254" descr="/tmp/claude-0/-home-user/472ad997-b1d8-52e7-b63c-66353a6ff570/scratchpad/deck/shots/welcom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1691640"/>
            <a:ext cx="5349240" cy="3008948"/>
          </a:xfrm>
          <a:prstGeom prst="rect">
            <a:avLst/>
          </a:prstGeom>
        </p:spPr>
      </p:pic>
      <p:sp>
        <p:nvSpPr>
          <p:cNvPr id="26" name="text-255"/>
          <p:cNvSpPr txBox="1"/>
          <p:nvPr/>
        </p:nvSpPr>
        <p:spPr>
          <a:xfrm>
            <a:off x="6263640" y="486518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Public landing page</a:t>
            </a:r>
            <a:endParaRPr lang="en-US" sz="1200" dirty="0"/>
          </a:p>
        </p:txBody>
      </p:sp>
      <p:sp>
        <p:nvSpPr>
          <p:cNvPr id="27" name="text-256"/>
          <p:cNvSpPr txBox="1"/>
          <p:nvPr/>
        </p:nvSpPr>
        <p:spPr>
          <a:xfrm>
            <a:off x="6263640" y="5074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</a:t>
            </a:r>
            <a:endParaRPr lang="en-US" sz="2800" dirty="0"/>
          </a:p>
        </p:txBody>
      </p:sp>
      <p:sp>
        <p:nvSpPr>
          <p:cNvPr id="28" name="text-257"/>
          <p:cNvSpPr txBox="1"/>
          <p:nvPr/>
        </p:nvSpPr>
        <p:spPr>
          <a:xfrm>
            <a:off x="6263640" y="5532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routes</a:t>
            </a:r>
            <a:endParaRPr lang="en-US" sz="1200" dirty="0"/>
          </a:p>
        </p:txBody>
      </p:sp>
      <p:sp>
        <p:nvSpPr>
          <p:cNvPr id="29" name="text-258"/>
          <p:cNvSpPr txBox="1"/>
          <p:nvPr/>
        </p:nvSpPr>
        <p:spPr>
          <a:xfrm>
            <a:off x="8092440" y="5074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124</a:t>
            </a:r>
            <a:endParaRPr lang="en-US" sz="2800" dirty="0"/>
          </a:p>
        </p:txBody>
      </p:sp>
      <p:sp>
        <p:nvSpPr>
          <p:cNvPr id="30" name="text-259"/>
          <p:cNvSpPr txBox="1"/>
          <p:nvPr/>
        </p:nvSpPr>
        <p:spPr>
          <a:xfrm>
            <a:off x="8092440" y="5532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spec files</a:t>
            </a:r>
            <a:endParaRPr lang="en-US" sz="1200" dirty="0"/>
          </a:p>
        </p:txBody>
      </p:sp>
      <p:sp>
        <p:nvSpPr>
          <p:cNvPr id="31" name="text-260"/>
          <p:cNvSpPr txBox="1"/>
          <p:nvPr/>
        </p:nvSpPr>
        <p:spPr>
          <a:xfrm>
            <a:off x="9921240" y="5074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293</a:t>
            </a:r>
            <a:endParaRPr lang="en-US" sz="2800" dirty="0"/>
          </a:p>
        </p:txBody>
      </p:sp>
      <p:sp>
        <p:nvSpPr>
          <p:cNvPr id="32" name="text-261"/>
          <p:cNvSpPr txBox="1"/>
          <p:nvPr/>
        </p:nvSpPr>
        <p:spPr>
          <a:xfrm>
            <a:off x="9921240" y="5532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unit tests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2"/>
                </a:solidFill>
              </a:rPr>
              <a:t>FRONTEND – ANGULAR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management and real-time updates</a:t>
            </a:r>
            <a:endParaRPr lang="en-US" sz="3200" dirty="0"/>
          </a:p>
        </p:txBody>
      </p:sp>
      <p:sp>
        <p:nvSpPr>
          <p:cNvPr id="4" name="text-262"/>
          <p:cNvSpPr txBox="1"/>
          <p:nvPr/>
        </p:nvSpPr>
        <p:spPr>
          <a:xfrm>
            <a:off x="54864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flow (NgRx)</a:t>
            </a:r>
            <a:endParaRPr lang="en-US" sz="1600" dirty="0"/>
          </a:p>
        </p:txBody>
      </p:sp>
      <p:sp>
        <p:nvSpPr>
          <p:cNvPr id="5" name="card-263"/>
          <p:cNvSpPr/>
          <p:nvPr/>
        </p:nvSpPr>
        <p:spPr>
          <a:xfrm>
            <a:off x="548640" y="1920240"/>
            <a:ext cx="1605229" cy="123444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rgbClr val="EAD9DF"/>
            </a:solidFill>
            <a:prstDash val="solid"/>
          </a:ln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6" name="text-264"/>
          <p:cNvSpPr txBox="1"/>
          <p:nvPr/>
        </p:nvSpPr>
        <p:spPr>
          <a:xfrm>
            <a:off x="658368" y="2057400"/>
            <a:ext cx="138577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Component</a:t>
            </a:r>
            <a:endParaRPr lang="en-US" sz="1400" dirty="0"/>
          </a:p>
        </p:txBody>
      </p:sp>
      <p:sp>
        <p:nvSpPr>
          <p:cNvPr id="7" name="text-265"/>
          <p:cNvSpPr txBox="1"/>
          <p:nvPr/>
        </p:nvSpPr>
        <p:spPr>
          <a:xfrm>
            <a:off x="658368" y="2395728"/>
            <a:ext cx="138577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User clicks Approve, Pay, Apply…</a:t>
            </a:r>
            <a:endParaRPr lang="en-US" sz="1150" dirty="0"/>
          </a:p>
        </p:txBody>
      </p:sp>
      <p:sp>
        <p:nvSpPr>
          <p:cNvPr id="8" name="arr-266"/>
          <p:cNvSpPr/>
          <p:nvPr/>
        </p:nvSpPr>
        <p:spPr>
          <a:xfrm>
            <a:off x="2199589" y="2395728"/>
            <a:ext cx="201168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9" name="card-267"/>
          <p:cNvSpPr/>
          <p:nvPr/>
        </p:nvSpPr>
        <p:spPr>
          <a:xfrm>
            <a:off x="2446477" y="1920240"/>
            <a:ext cx="1605229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rgbClr val="EAD9DF"/>
            </a:solidFill>
            <a:prstDash val="solid"/>
          </a:ln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10" name="text-268"/>
          <p:cNvSpPr txBox="1"/>
          <p:nvPr/>
        </p:nvSpPr>
        <p:spPr>
          <a:xfrm>
            <a:off x="2556205" y="2057400"/>
            <a:ext cx="138577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Action</a:t>
            </a:r>
            <a:endParaRPr lang="en-US" sz="1400" dirty="0"/>
          </a:p>
        </p:txBody>
      </p:sp>
      <p:sp>
        <p:nvSpPr>
          <p:cNvPr id="11" name="text-269"/>
          <p:cNvSpPr txBox="1"/>
          <p:nvPr/>
        </p:nvSpPr>
        <p:spPr>
          <a:xfrm>
            <a:off x="2556205" y="2395728"/>
            <a:ext cx="138577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e.g. approvePolicy({ id })</a:t>
            </a:r>
            <a:endParaRPr lang="en-US" sz="1150" dirty="0"/>
          </a:p>
        </p:txBody>
      </p:sp>
      <p:sp>
        <p:nvSpPr>
          <p:cNvPr id="12" name="arr-270"/>
          <p:cNvSpPr/>
          <p:nvPr/>
        </p:nvSpPr>
        <p:spPr>
          <a:xfrm>
            <a:off x="4097426" y="2395728"/>
            <a:ext cx="201168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3" name="card-271"/>
          <p:cNvSpPr/>
          <p:nvPr/>
        </p:nvSpPr>
        <p:spPr>
          <a:xfrm>
            <a:off x="4344314" y="1920240"/>
            <a:ext cx="1605229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rgbClr val="EAD9DF"/>
            </a:solidFill>
            <a:prstDash val="solid"/>
          </a:ln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14" name="text-272"/>
          <p:cNvSpPr txBox="1"/>
          <p:nvPr/>
        </p:nvSpPr>
        <p:spPr>
          <a:xfrm>
            <a:off x="4454042" y="2057400"/>
            <a:ext cx="138577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Effect</a:t>
            </a:r>
            <a:endParaRPr lang="en-US" sz="1400" dirty="0"/>
          </a:p>
        </p:txBody>
      </p:sp>
      <p:sp>
        <p:nvSpPr>
          <p:cNvPr id="15" name="text-273"/>
          <p:cNvSpPr txBox="1"/>
          <p:nvPr/>
        </p:nvSpPr>
        <p:spPr>
          <a:xfrm>
            <a:off x="4454042" y="2395728"/>
            <a:ext cx="138577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Calls the Angular service</a:t>
            </a:r>
            <a:endParaRPr lang="en-US" sz="1150" dirty="0"/>
          </a:p>
        </p:txBody>
      </p:sp>
      <p:sp>
        <p:nvSpPr>
          <p:cNvPr id="16" name="arr-274"/>
          <p:cNvSpPr/>
          <p:nvPr/>
        </p:nvSpPr>
        <p:spPr>
          <a:xfrm>
            <a:off x="5995264" y="2395728"/>
            <a:ext cx="201168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7" name="card-275"/>
          <p:cNvSpPr/>
          <p:nvPr/>
        </p:nvSpPr>
        <p:spPr>
          <a:xfrm>
            <a:off x="6242152" y="1920240"/>
            <a:ext cx="1605229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rgbClr val="EAD9DF"/>
            </a:solidFill>
            <a:prstDash val="solid"/>
          </a:ln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18" name="text-276"/>
          <p:cNvSpPr txBox="1"/>
          <p:nvPr/>
        </p:nvSpPr>
        <p:spPr>
          <a:xfrm>
            <a:off x="6351880" y="2057400"/>
            <a:ext cx="138577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Interceptor</a:t>
            </a:r>
            <a:endParaRPr lang="en-US" sz="1400" dirty="0"/>
          </a:p>
        </p:txBody>
      </p:sp>
      <p:sp>
        <p:nvSpPr>
          <p:cNvPr id="19" name="text-277"/>
          <p:cNvSpPr txBox="1"/>
          <p:nvPr/>
        </p:nvSpPr>
        <p:spPr>
          <a:xfrm>
            <a:off x="6351880" y="2395728"/>
            <a:ext cx="138577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Adds JWT, refreshes if expired</a:t>
            </a:r>
            <a:endParaRPr lang="en-US" sz="1150" dirty="0"/>
          </a:p>
        </p:txBody>
      </p:sp>
      <p:sp>
        <p:nvSpPr>
          <p:cNvPr id="20" name="arr-278"/>
          <p:cNvSpPr/>
          <p:nvPr/>
        </p:nvSpPr>
        <p:spPr>
          <a:xfrm>
            <a:off x="7893101" y="2395728"/>
            <a:ext cx="201168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21" name="card-279"/>
          <p:cNvSpPr/>
          <p:nvPr/>
        </p:nvSpPr>
        <p:spPr>
          <a:xfrm>
            <a:off x="8139989" y="1920240"/>
            <a:ext cx="1605229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rgbClr val="EAD9DF"/>
            </a:solidFill>
            <a:prstDash val="solid"/>
          </a:ln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22" name="text-280"/>
          <p:cNvSpPr txBox="1"/>
          <p:nvPr/>
        </p:nvSpPr>
        <p:spPr>
          <a:xfrm>
            <a:off x="8249717" y="2057400"/>
            <a:ext cx="138577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Gateway</a:t>
            </a:r>
            <a:endParaRPr lang="en-US" sz="1400" dirty="0"/>
          </a:p>
        </p:txBody>
      </p:sp>
      <p:sp>
        <p:nvSpPr>
          <p:cNvPr id="23" name="text-281"/>
          <p:cNvSpPr txBox="1"/>
          <p:nvPr/>
        </p:nvSpPr>
        <p:spPr>
          <a:xfrm>
            <a:off x="8249717" y="2395728"/>
            <a:ext cx="138577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Routes to the service</a:t>
            </a:r>
            <a:endParaRPr lang="en-US" sz="1150" dirty="0"/>
          </a:p>
        </p:txBody>
      </p:sp>
      <p:sp>
        <p:nvSpPr>
          <p:cNvPr id="24" name="arr-282"/>
          <p:cNvSpPr/>
          <p:nvPr/>
        </p:nvSpPr>
        <p:spPr>
          <a:xfrm>
            <a:off x="9790938" y="2395728"/>
            <a:ext cx="201168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25" name="card-283"/>
          <p:cNvSpPr/>
          <p:nvPr/>
        </p:nvSpPr>
        <p:spPr>
          <a:xfrm>
            <a:off x="10037826" y="1920240"/>
            <a:ext cx="1605229" cy="123444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rgbClr val="EAD9DF"/>
            </a:solidFill>
            <a:prstDash val="solid"/>
          </a:ln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26" name="text-284"/>
          <p:cNvSpPr txBox="1"/>
          <p:nvPr/>
        </p:nvSpPr>
        <p:spPr>
          <a:xfrm>
            <a:off x="10147554" y="2057400"/>
            <a:ext cx="138577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Reducer → UI</a:t>
            </a:r>
            <a:endParaRPr lang="en-US" sz="1400" dirty="0"/>
          </a:p>
        </p:txBody>
      </p:sp>
      <p:sp>
        <p:nvSpPr>
          <p:cNvPr id="27" name="text-285"/>
          <p:cNvSpPr txBox="1"/>
          <p:nvPr/>
        </p:nvSpPr>
        <p:spPr>
          <a:xfrm>
            <a:off x="10147554" y="2395728"/>
            <a:ext cx="138577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Selectors and signals re-render</a:t>
            </a:r>
            <a:endParaRPr lang="en-US" sz="1150" dirty="0"/>
          </a:p>
        </p:txBody>
      </p:sp>
      <p:sp>
        <p:nvSpPr>
          <p:cNvPr id="28" name="text-286"/>
          <p:cNvSpPr txBox="1"/>
          <p:nvPr/>
        </p:nvSpPr>
        <p:spPr>
          <a:xfrm>
            <a:off x="548640" y="3520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flow (Server-Sent Events)</a:t>
            </a:r>
            <a:endParaRPr lang="en-US" sz="1600" dirty="0"/>
          </a:p>
        </p:txBody>
      </p:sp>
      <p:sp>
        <p:nvSpPr>
          <p:cNvPr id="29" name="card-287"/>
          <p:cNvSpPr/>
          <p:nvPr/>
        </p:nvSpPr>
        <p:spPr>
          <a:xfrm>
            <a:off x="548640" y="3886200"/>
            <a:ext cx="1605229" cy="1234440"/>
          </a:xfrm>
          <a:prstGeom prst="roundRect">
            <a:avLst>
              <a:gd name="adj" fmla="val 8889"/>
            </a:avLst>
          </a:prstGeom>
          <a:solidFill>
            <a:schemeClr val="accent2"/>
          </a:solidFill>
          <a:ln w="12700">
            <a:solidFill>
              <a:srgbClr val="EAD9DF"/>
            </a:solidFill>
            <a:prstDash val="solid"/>
          </a:ln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30" name="text-288"/>
          <p:cNvSpPr txBox="1"/>
          <p:nvPr/>
        </p:nvSpPr>
        <p:spPr>
          <a:xfrm>
            <a:off x="658368" y="4023360"/>
            <a:ext cx="138577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Service event</a:t>
            </a:r>
            <a:endParaRPr lang="en-US" sz="1400" dirty="0"/>
          </a:p>
        </p:txBody>
      </p:sp>
      <p:sp>
        <p:nvSpPr>
          <p:cNvPr id="31" name="text-289"/>
          <p:cNvSpPr txBox="1"/>
          <p:nvPr/>
        </p:nvSpPr>
        <p:spPr>
          <a:xfrm>
            <a:off x="658368" y="4361688"/>
            <a:ext cx="138577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Policy approved, claim created, payout paid</a:t>
            </a:r>
            <a:endParaRPr lang="en-US" sz="1150" dirty="0"/>
          </a:p>
        </p:txBody>
      </p:sp>
      <p:sp>
        <p:nvSpPr>
          <p:cNvPr id="32" name="arr-290"/>
          <p:cNvSpPr/>
          <p:nvPr/>
        </p:nvSpPr>
        <p:spPr>
          <a:xfrm>
            <a:off x="2199589" y="4361688"/>
            <a:ext cx="201168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33" name="card-291"/>
          <p:cNvSpPr/>
          <p:nvPr/>
        </p:nvSpPr>
        <p:spPr>
          <a:xfrm>
            <a:off x="2446477" y="3886200"/>
            <a:ext cx="1605229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rgbClr val="EAD9DF"/>
            </a:solidFill>
            <a:prstDash val="solid"/>
          </a:ln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34" name="text-292"/>
          <p:cNvSpPr txBox="1"/>
          <p:nvPr/>
        </p:nvSpPr>
        <p:spPr>
          <a:xfrm>
            <a:off x="2556205" y="4023360"/>
            <a:ext cx="138577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Notification svc</a:t>
            </a:r>
            <a:endParaRPr lang="en-US" sz="1400" dirty="0"/>
          </a:p>
        </p:txBody>
      </p:sp>
      <p:sp>
        <p:nvSpPr>
          <p:cNvPr id="35" name="text-293"/>
          <p:cNvSpPr txBox="1"/>
          <p:nvPr/>
        </p:nvSpPr>
        <p:spPr>
          <a:xfrm>
            <a:off x="2556205" y="4361688"/>
            <a:ext cx="138577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Stores it and pushes it on the stream</a:t>
            </a:r>
            <a:endParaRPr lang="en-US" sz="1150" dirty="0"/>
          </a:p>
        </p:txBody>
      </p:sp>
      <p:sp>
        <p:nvSpPr>
          <p:cNvPr id="36" name="arr-294"/>
          <p:cNvSpPr/>
          <p:nvPr/>
        </p:nvSpPr>
        <p:spPr>
          <a:xfrm>
            <a:off x="4097426" y="4361688"/>
            <a:ext cx="201168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37" name="card-295"/>
          <p:cNvSpPr/>
          <p:nvPr/>
        </p:nvSpPr>
        <p:spPr>
          <a:xfrm>
            <a:off x="4344314" y="3886200"/>
            <a:ext cx="1605229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rgbClr val="EAD9DF"/>
            </a:solidFill>
            <a:prstDash val="solid"/>
          </a:ln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38" name="text-296"/>
          <p:cNvSpPr txBox="1"/>
          <p:nvPr/>
        </p:nvSpPr>
        <p:spPr>
          <a:xfrm>
            <a:off x="4454042" y="4023360"/>
            <a:ext cx="138577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EventSource</a:t>
            </a:r>
            <a:endParaRPr lang="en-US" sz="1400" dirty="0"/>
          </a:p>
        </p:txBody>
      </p:sp>
      <p:sp>
        <p:nvSpPr>
          <p:cNvPr id="39" name="text-297"/>
          <p:cNvSpPr txBox="1"/>
          <p:nvPr/>
        </p:nvSpPr>
        <p:spPr>
          <a:xfrm>
            <a:off x="4454042" y="4361688"/>
            <a:ext cx="138577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/api/notifications/me/stream</a:t>
            </a:r>
            <a:endParaRPr lang="en-US" sz="1150" dirty="0"/>
          </a:p>
        </p:txBody>
      </p:sp>
      <p:sp>
        <p:nvSpPr>
          <p:cNvPr id="40" name="arr-298"/>
          <p:cNvSpPr/>
          <p:nvPr/>
        </p:nvSpPr>
        <p:spPr>
          <a:xfrm>
            <a:off x="5995264" y="4361688"/>
            <a:ext cx="201168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41" name="card-299"/>
          <p:cNvSpPr/>
          <p:nvPr/>
        </p:nvSpPr>
        <p:spPr>
          <a:xfrm>
            <a:off x="6242152" y="3886200"/>
            <a:ext cx="1605229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rgbClr val="EAD9DF"/>
            </a:solidFill>
            <a:prstDash val="solid"/>
          </a:ln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42" name="text-300"/>
          <p:cNvSpPr txBox="1"/>
          <p:nvPr/>
        </p:nvSpPr>
        <p:spPr>
          <a:xfrm>
            <a:off x="6351880" y="4023360"/>
            <a:ext cx="138577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NgRx store</a:t>
            </a:r>
            <a:endParaRPr lang="en-US" sz="1400" dirty="0"/>
          </a:p>
        </p:txBody>
      </p:sp>
      <p:sp>
        <p:nvSpPr>
          <p:cNvPr id="43" name="text-301"/>
          <p:cNvSpPr txBox="1"/>
          <p:nvPr/>
        </p:nvSpPr>
        <p:spPr>
          <a:xfrm>
            <a:off x="6351880" y="4361688"/>
            <a:ext cx="138577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Adds it to the notifications state</a:t>
            </a:r>
            <a:endParaRPr lang="en-US" sz="1150" dirty="0"/>
          </a:p>
        </p:txBody>
      </p:sp>
      <p:sp>
        <p:nvSpPr>
          <p:cNvPr id="44" name="arr-302"/>
          <p:cNvSpPr/>
          <p:nvPr/>
        </p:nvSpPr>
        <p:spPr>
          <a:xfrm>
            <a:off x="7893101" y="4361688"/>
            <a:ext cx="201168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45" name="card-303"/>
          <p:cNvSpPr/>
          <p:nvPr/>
        </p:nvSpPr>
        <p:spPr>
          <a:xfrm>
            <a:off x="8139989" y="3886200"/>
            <a:ext cx="1605229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rgbClr val="EAD9DF"/>
            </a:solidFill>
            <a:prstDash val="solid"/>
          </a:ln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46" name="text-304"/>
          <p:cNvSpPr txBox="1"/>
          <p:nvPr/>
        </p:nvSpPr>
        <p:spPr>
          <a:xfrm>
            <a:off x="8249717" y="4023360"/>
            <a:ext cx="138577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Bell &amp; toast</a:t>
            </a:r>
            <a:endParaRPr lang="en-US" sz="1400" dirty="0"/>
          </a:p>
        </p:txBody>
      </p:sp>
      <p:sp>
        <p:nvSpPr>
          <p:cNvPr id="47" name="text-305"/>
          <p:cNvSpPr txBox="1"/>
          <p:nvPr/>
        </p:nvSpPr>
        <p:spPr>
          <a:xfrm>
            <a:off x="8249717" y="4361688"/>
            <a:ext cx="138577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Unread badge and pop-up</a:t>
            </a:r>
            <a:endParaRPr lang="en-US" sz="1150" dirty="0"/>
          </a:p>
        </p:txBody>
      </p:sp>
      <p:sp>
        <p:nvSpPr>
          <p:cNvPr id="48" name="arr-306"/>
          <p:cNvSpPr/>
          <p:nvPr/>
        </p:nvSpPr>
        <p:spPr>
          <a:xfrm>
            <a:off x="9790938" y="4361688"/>
            <a:ext cx="201168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49" name="card-307"/>
          <p:cNvSpPr/>
          <p:nvPr/>
        </p:nvSpPr>
        <p:spPr>
          <a:xfrm>
            <a:off x="10037826" y="3886200"/>
            <a:ext cx="1605229" cy="1234440"/>
          </a:xfrm>
          <a:prstGeom prst="roundRect">
            <a:avLst>
              <a:gd name="adj" fmla="val 8889"/>
            </a:avLst>
          </a:prstGeom>
          <a:solidFill>
            <a:schemeClr val="accent2"/>
          </a:solidFill>
          <a:ln w="12700">
            <a:solidFill>
              <a:srgbClr val="EAD9DF"/>
            </a:solidFill>
            <a:prstDash val="solid"/>
          </a:ln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50" name="text-308"/>
          <p:cNvSpPr txBox="1"/>
          <p:nvPr/>
        </p:nvSpPr>
        <p:spPr>
          <a:xfrm>
            <a:off x="10147554" y="4023360"/>
            <a:ext cx="138577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Live pages</a:t>
            </a:r>
            <a:endParaRPr lang="en-US" sz="1400" dirty="0"/>
          </a:p>
        </p:txBody>
      </p:sp>
      <p:sp>
        <p:nvSpPr>
          <p:cNvPr id="51" name="text-309"/>
          <p:cNvSpPr txBox="1"/>
          <p:nvPr/>
        </p:nvSpPr>
        <p:spPr>
          <a:xfrm>
            <a:off x="10147554" y="4361688"/>
            <a:ext cx="138577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Claims and policy pages reload</a:t>
            </a:r>
            <a:endParaRPr lang="en-US" sz="1150" dirty="0"/>
          </a:p>
        </p:txBody>
      </p:sp>
      <p:sp>
        <p:nvSpPr>
          <p:cNvPr id="52" name="text-310"/>
          <p:cNvSpPr txBox="1"/>
          <p:nvPr/>
        </p:nvSpPr>
        <p:spPr>
          <a:xfrm>
            <a:off x="548640" y="5486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Result: the customer sees a new automatic claim and its payout without refreshing the page.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2"/>
                </a:solidFill>
              </a:rPr>
              <a:t>BACKEND – SPRING BOOT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Fully reactive Spring Boot 4 services</a:t>
            </a:r>
            <a:endParaRPr lang="en-US" sz="3200" dirty="0"/>
          </a:p>
        </p:txBody>
      </p:sp>
      <p:sp>
        <p:nvSpPr>
          <p:cNvPr id="4" name="card-311"/>
          <p:cNvSpPr/>
          <p:nvPr/>
        </p:nvSpPr>
        <p:spPr>
          <a:xfrm>
            <a:off x="548640" y="1600200"/>
            <a:ext cx="6035040" cy="73152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5" name="text-312"/>
          <p:cNvSpPr txBox="1"/>
          <p:nvPr/>
        </p:nvSpPr>
        <p:spPr>
          <a:xfrm>
            <a:off x="777240" y="1691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Router</a:t>
            </a:r>
            <a:endParaRPr lang="en-US" sz="1500" dirty="0"/>
          </a:p>
        </p:txBody>
      </p:sp>
      <p:sp>
        <p:nvSpPr>
          <p:cNvPr id="6" name="text-313"/>
          <p:cNvSpPr txBox="1"/>
          <p:nvPr/>
        </p:nvSpPr>
        <p:spPr>
          <a:xfrm>
            <a:off x="2331720" y="169164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</a:rPr>
              <a:t>Functional endpoints (RouterFunction) map paths to handlers</a:t>
            </a:r>
            <a:endParaRPr lang="en-US" sz="1250" dirty="0"/>
          </a:p>
        </p:txBody>
      </p:sp>
      <p:sp>
        <p:nvSpPr>
          <p:cNvPr id="7" name="card-314"/>
          <p:cNvSpPr/>
          <p:nvPr/>
        </p:nvSpPr>
        <p:spPr>
          <a:xfrm>
            <a:off x="777240" y="2468880"/>
            <a:ext cx="58064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8" name="text-315"/>
          <p:cNvSpPr txBox="1"/>
          <p:nvPr/>
        </p:nvSpPr>
        <p:spPr>
          <a:xfrm>
            <a:off x="1005840" y="25603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Handler</a:t>
            </a:r>
            <a:endParaRPr lang="en-US" sz="1500" dirty="0"/>
          </a:p>
        </p:txBody>
      </p:sp>
      <p:sp>
        <p:nvSpPr>
          <p:cNvPr id="9" name="text-316"/>
          <p:cNvSpPr txBox="1"/>
          <p:nvPr/>
        </p:nvSpPr>
        <p:spPr>
          <a:xfrm>
            <a:off x="2560320" y="25603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Reads the request, validates DTOs, checks the caller’s role</a:t>
            </a:r>
            <a:endParaRPr lang="en-US" sz="1250" dirty="0"/>
          </a:p>
        </p:txBody>
      </p:sp>
      <p:sp>
        <p:nvSpPr>
          <p:cNvPr id="10" name="card-317"/>
          <p:cNvSpPr/>
          <p:nvPr/>
        </p:nvSpPr>
        <p:spPr>
          <a:xfrm>
            <a:off x="1005840" y="3337560"/>
            <a:ext cx="5577840" cy="73152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</p:sp>
      <p:sp>
        <p:nvSpPr>
          <p:cNvPr id="11" name="text-318"/>
          <p:cNvSpPr txBox="1"/>
          <p:nvPr/>
        </p:nvSpPr>
        <p:spPr>
          <a:xfrm>
            <a:off x="1234440" y="34290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Service</a:t>
            </a:r>
            <a:endParaRPr lang="en-US" sz="1500" dirty="0"/>
          </a:p>
        </p:txBody>
      </p:sp>
      <p:sp>
        <p:nvSpPr>
          <p:cNvPr id="12" name="text-319"/>
          <p:cNvSpPr txBox="1"/>
          <p:nvPr/>
        </p:nvSpPr>
        <p:spPr>
          <a:xfrm>
            <a:off x="2788920" y="342900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</a:rPr>
              <a:t>Business rules as Mono / Flux pipelines; calls other services</a:t>
            </a:r>
            <a:endParaRPr lang="en-US" sz="1250" dirty="0"/>
          </a:p>
        </p:txBody>
      </p:sp>
      <p:sp>
        <p:nvSpPr>
          <p:cNvPr id="13" name="card-320"/>
          <p:cNvSpPr/>
          <p:nvPr/>
        </p:nvSpPr>
        <p:spPr>
          <a:xfrm>
            <a:off x="1234440" y="4206240"/>
            <a:ext cx="53492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14" name="text-321"/>
          <p:cNvSpPr txBox="1"/>
          <p:nvPr/>
        </p:nvSpPr>
        <p:spPr>
          <a:xfrm>
            <a:off x="1463040" y="42976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Repository</a:t>
            </a:r>
            <a:endParaRPr lang="en-US" sz="1500" dirty="0"/>
          </a:p>
        </p:txBody>
      </p:sp>
      <p:sp>
        <p:nvSpPr>
          <p:cNvPr id="15" name="text-322"/>
          <p:cNvSpPr txBox="1"/>
          <p:nvPr/>
        </p:nvSpPr>
        <p:spPr>
          <a:xfrm>
            <a:off x="3017520" y="42976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Spring Data R2DBC — non-blocking database access</a:t>
            </a:r>
            <a:endParaRPr lang="en-US" sz="1250" dirty="0"/>
          </a:p>
        </p:txBody>
      </p:sp>
      <p:sp>
        <p:nvSpPr>
          <p:cNvPr id="16" name="card-323"/>
          <p:cNvSpPr/>
          <p:nvPr/>
        </p:nvSpPr>
        <p:spPr>
          <a:xfrm>
            <a:off x="1463040" y="5074920"/>
            <a:ext cx="5120640" cy="731520"/>
          </a:xfrm>
          <a:prstGeom prst="roundRect">
            <a:avLst>
              <a:gd name="adj" fmla="val 15000"/>
            </a:avLst>
          </a:prstGeom>
          <a:solidFill>
            <a:schemeClr val="tx1"/>
          </a:solidFill>
          <a:ln/>
        </p:spPr>
      </p:sp>
      <p:sp>
        <p:nvSpPr>
          <p:cNvPr id="17" name="text-324"/>
          <p:cNvSpPr txBox="1"/>
          <p:nvPr/>
        </p:nvSpPr>
        <p:spPr>
          <a:xfrm>
            <a:off x="1691640" y="5166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H2 database</a:t>
            </a:r>
            <a:endParaRPr lang="en-US" sz="1500" dirty="0"/>
          </a:p>
        </p:txBody>
      </p:sp>
      <p:sp>
        <p:nvSpPr>
          <p:cNvPr id="18" name="text-325"/>
          <p:cNvSpPr txBox="1"/>
          <p:nvPr/>
        </p:nvSpPr>
        <p:spPr>
          <a:xfrm>
            <a:off x="3246120" y="51663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</a:rPr>
              <a:t>One file database per service, schema.sql on start-up</a:t>
            </a:r>
            <a:endParaRPr lang="en-US" sz="1250" dirty="0"/>
          </a:p>
        </p:txBody>
      </p:sp>
      <p:sp>
        <p:nvSpPr>
          <p:cNvPr id="19" name="text-326"/>
          <p:cNvSpPr txBox="1"/>
          <p:nvPr/>
        </p:nvSpPr>
        <p:spPr>
          <a:xfrm>
            <a:off x="7086600" y="1600200"/>
            <a:ext cx="4556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</a:t>
            </a:r>
            <a:endParaRPr lang="en-US" sz="1800" dirty="0"/>
          </a:p>
        </p:txBody>
      </p:sp>
      <p:sp>
        <p:nvSpPr>
          <p:cNvPr id="20" name="chip-327"/>
          <p:cNvSpPr/>
          <p:nvPr/>
        </p:nvSpPr>
        <p:spPr>
          <a:xfrm>
            <a:off x="7086600" y="2057400"/>
            <a:ext cx="214884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1" name="text-328"/>
          <p:cNvSpPr txBox="1"/>
          <p:nvPr/>
        </p:nvSpPr>
        <p:spPr>
          <a:xfrm>
            <a:off x="7086600" y="205740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Java 17</a:t>
            </a:r>
            <a:endParaRPr lang="en-US" sz="1100" dirty="0"/>
          </a:p>
        </p:txBody>
      </p:sp>
      <p:sp>
        <p:nvSpPr>
          <p:cNvPr id="22" name="chip-329"/>
          <p:cNvSpPr/>
          <p:nvPr/>
        </p:nvSpPr>
        <p:spPr>
          <a:xfrm>
            <a:off x="9372600" y="2057400"/>
            <a:ext cx="2148840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3" name="text-330"/>
          <p:cNvSpPr txBox="1"/>
          <p:nvPr/>
        </p:nvSpPr>
        <p:spPr>
          <a:xfrm>
            <a:off x="9372600" y="205740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Spring Boot 4.1</a:t>
            </a:r>
            <a:endParaRPr lang="en-US" sz="1100" dirty="0"/>
          </a:p>
        </p:txBody>
      </p:sp>
      <p:sp>
        <p:nvSpPr>
          <p:cNvPr id="24" name="chip-331"/>
          <p:cNvSpPr/>
          <p:nvPr/>
        </p:nvSpPr>
        <p:spPr>
          <a:xfrm>
            <a:off x="7086600" y="2514600"/>
            <a:ext cx="2148840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5" name="text-332"/>
          <p:cNvSpPr txBox="1"/>
          <p:nvPr/>
        </p:nvSpPr>
        <p:spPr>
          <a:xfrm>
            <a:off x="7086600" y="251460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WebFlux</a:t>
            </a:r>
            <a:endParaRPr lang="en-US" sz="1100" dirty="0"/>
          </a:p>
        </p:txBody>
      </p:sp>
      <p:sp>
        <p:nvSpPr>
          <p:cNvPr id="26" name="chip-333"/>
          <p:cNvSpPr/>
          <p:nvPr/>
        </p:nvSpPr>
        <p:spPr>
          <a:xfrm>
            <a:off x="9372600" y="2514600"/>
            <a:ext cx="214884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7" name="text-334"/>
          <p:cNvSpPr txBox="1"/>
          <p:nvPr/>
        </p:nvSpPr>
        <p:spPr>
          <a:xfrm>
            <a:off x="9372600" y="251460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R2DBC</a:t>
            </a:r>
            <a:endParaRPr lang="en-US" sz="1100" dirty="0"/>
          </a:p>
        </p:txBody>
      </p:sp>
      <p:sp>
        <p:nvSpPr>
          <p:cNvPr id="28" name="chip-335"/>
          <p:cNvSpPr/>
          <p:nvPr/>
        </p:nvSpPr>
        <p:spPr>
          <a:xfrm>
            <a:off x="7086600" y="2971800"/>
            <a:ext cx="2148840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9" name="text-336"/>
          <p:cNvSpPr txBox="1"/>
          <p:nvPr/>
        </p:nvSpPr>
        <p:spPr>
          <a:xfrm>
            <a:off x="7086600" y="297180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Spring Cloud Gateway</a:t>
            </a:r>
            <a:endParaRPr lang="en-US" sz="1100" dirty="0"/>
          </a:p>
        </p:txBody>
      </p:sp>
      <p:sp>
        <p:nvSpPr>
          <p:cNvPr id="30" name="chip-337"/>
          <p:cNvSpPr/>
          <p:nvPr/>
        </p:nvSpPr>
        <p:spPr>
          <a:xfrm>
            <a:off x="9372600" y="2971800"/>
            <a:ext cx="2148840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1" name="text-338"/>
          <p:cNvSpPr txBox="1"/>
          <p:nvPr/>
        </p:nvSpPr>
        <p:spPr>
          <a:xfrm>
            <a:off x="9372600" y="297180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Eureka</a:t>
            </a:r>
            <a:endParaRPr lang="en-US" sz="1100" dirty="0"/>
          </a:p>
        </p:txBody>
      </p:sp>
      <p:sp>
        <p:nvSpPr>
          <p:cNvPr id="32" name="chip-339"/>
          <p:cNvSpPr/>
          <p:nvPr/>
        </p:nvSpPr>
        <p:spPr>
          <a:xfrm>
            <a:off x="7086600" y="3429000"/>
            <a:ext cx="214884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3" name="text-340"/>
          <p:cNvSpPr txBox="1"/>
          <p:nvPr/>
        </p:nvSpPr>
        <p:spPr>
          <a:xfrm>
            <a:off x="7086600" y="342900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WebClient</a:t>
            </a:r>
            <a:endParaRPr lang="en-US" sz="1100" dirty="0"/>
          </a:p>
        </p:txBody>
      </p:sp>
      <p:sp>
        <p:nvSpPr>
          <p:cNvPr id="34" name="chip-341"/>
          <p:cNvSpPr/>
          <p:nvPr/>
        </p:nvSpPr>
        <p:spPr>
          <a:xfrm>
            <a:off x="9372600" y="3429000"/>
            <a:ext cx="2148840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5" name="text-342"/>
          <p:cNvSpPr txBox="1"/>
          <p:nvPr/>
        </p:nvSpPr>
        <p:spPr>
          <a:xfrm>
            <a:off x="9372600" y="342900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Jakarta Validation</a:t>
            </a:r>
            <a:endParaRPr lang="en-US" sz="1100" dirty="0"/>
          </a:p>
        </p:txBody>
      </p:sp>
      <p:sp>
        <p:nvSpPr>
          <p:cNvPr id="36" name="chip-343"/>
          <p:cNvSpPr/>
          <p:nvPr/>
        </p:nvSpPr>
        <p:spPr>
          <a:xfrm>
            <a:off x="7086600" y="3886200"/>
            <a:ext cx="2148840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7" name="text-344"/>
          <p:cNvSpPr txBox="1"/>
          <p:nvPr/>
        </p:nvSpPr>
        <p:spPr>
          <a:xfrm>
            <a:off x="7086600" y="388620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Lombok</a:t>
            </a:r>
            <a:endParaRPr lang="en-US" sz="1100" dirty="0"/>
          </a:p>
        </p:txBody>
      </p:sp>
      <p:sp>
        <p:nvSpPr>
          <p:cNvPr id="38" name="chip-345"/>
          <p:cNvSpPr/>
          <p:nvPr/>
        </p:nvSpPr>
        <p:spPr>
          <a:xfrm>
            <a:off x="9372600" y="3886200"/>
            <a:ext cx="214884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9" name="text-346"/>
          <p:cNvSpPr txBox="1"/>
          <p:nvPr/>
        </p:nvSpPr>
        <p:spPr>
          <a:xfrm>
            <a:off x="9372600" y="388620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JJWT</a:t>
            </a:r>
            <a:endParaRPr lang="en-US" sz="1100" dirty="0"/>
          </a:p>
        </p:txBody>
      </p:sp>
      <p:sp>
        <p:nvSpPr>
          <p:cNvPr id="40" name="chip-347"/>
          <p:cNvSpPr/>
          <p:nvPr/>
        </p:nvSpPr>
        <p:spPr>
          <a:xfrm>
            <a:off x="7086600" y="4343400"/>
            <a:ext cx="2148840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41" name="text-348"/>
          <p:cNvSpPr txBox="1"/>
          <p:nvPr/>
        </p:nvSpPr>
        <p:spPr>
          <a:xfrm>
            <a:off x="7086600" y="434340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Actuator</a:t>
            </a:r>
            <a:endParaRPr lang="en-US" sz="1100" dirty="0"/>
          </a:p>
        </p:txBody>
      </p:sp>
      <p:sp>
        <p:nvSpPr>
          <p:cNvPr id="42" name="chip-349"/>
          <p:cNvSpPr/>
          <p:nvPr/>
        </p:nvSpPr>
        <p:spPr>
          <a:xfrm>
            <a:off x="9372600" y="4343400"/>
            <a:ext cx="2148840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43" name="text-350"/>
          <p:cNvSpPr txBox="1"/>
          <p:nvPr/>
        </p:nvSpPr>
        <p:spPr>
          <a:xfrm>
            <a:off x="9372600" y="434340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Maven</a:t>
            </a:r>
            <a:endParaRPr lang="en-US" sz="1100" dirty="0"/>
          </a:p>
        </p:txBody>
      </p:sp>
      <p:sp>
        <p:nvSpPr>
          <p:cNvPr id="44" name="card-351"/>
          <p:cNvSpPr/>
          <p:nvPr/>
        </p:nvSpPr>
        <p:spPr>
          <a:xfrm>
            <a:off x="7086600" y="4983480"/>
            <a:ext cx="4556455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45" name="icon-bg-352"/>
          <p:cNvSpPr/>
          <p:nvPr/>
        </p:nvSpPr>
        <p:spPr>
          <a:xfrm>
            <a:off x="7269480" y="5193792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6" name="icon-353" descr="/tmp/claude-0/-home-user/472ad997-b1d8-52e7-b63c-66353a6ff570/scratchpad/deck/assets/icon-clock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0" y="5353812"/>
            <a:ext cx="320040" cy="320040"/>
          </a:xfrm>
          <a:prstGeom prst="rect">
            <a:avLst/>
          </a:prstGeom>
        </p:spPr>
      </p:pic>
      <p:sp>
        <p:nvSpPr>
          <p:cNvPr id="47" name="text-354"/>
          <p:cNvSpPr txBox="1"/>
          <p:nvPr/>
        </p:nvSpPr>
        <p:spPr>
          <a:xfrm>
            <a:off x="8046720" y="5074920"/>
            <a:ext cx="3459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9 scheduled jobs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policy expiry &amp; renewals, payout sweep, premium reminders, reconciliation, default pricing, demo weather feed, notification cleanup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2"/>
                </a:solidFill>
              </a:rPr>
              <a:t>BACKEND – CORE FLOW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measurement to a paid claim</a:t>
            </a:r>
            <a:endParaRPr lang="en-US" sz="3200" dirty="0"/>
          </a:p>
        </p:txBody>
      </p:sp>
      <p:sp>
        <p:nvSpPr>
          <p:cNvPr id="4" name="card-355"/>
          <p:cNvSpPr/>
          <p:nvPr/>
        </p:nvSpPr>
        <p:spPr>
          <a:xfrm>
            <a:off x="548640" y="1645920"/>
            <a:ext cx="539496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rgbClr val="EAD9DF"/>
            </a:solidFill>
            <a:prstDash val="solid"/>
          </a:ln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5" name="num-356"/>
          <p:cNvSpPr/>
          <p:nvPr/>
        </p:nvSpPr>
        <p:spPr>
          <a:xfrm>
            <a:off x="749808" y="1938528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-357"/>
          <p:cNvSpPr txBox="1"/>
          <p:nvPr/>
        </p:nvSpPr>
        <p:spPr>
          <a:xfrm>
            <a:off x="749808" y="19385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chip-358"/>
          <p:cNvSpPr/>
          <p:nvPr/>
        </p:nvSpPr>
        <p:spPr>
          <a:xfrm>
            <a:off x="1554480" y="1810512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8" name="text-359"/>
          <p:cNvSpPr txBox="1"/>
          <p:nvPr/>
        </p:nvSpPr>
        <p:spPr>
          <a:xfrm>
            <a:off x="1554480" y="181051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Trigger svc</a:t>
            </a:r>
            <a:endParaRPr lang="en-US" sz="1100" dirty="0"/>
          </a:p>
        </p:txBody>
      </p:sp>
      <p:sp>
        <p:nvSpPr>
          <p:cNvPr id="9" name="text-360"/>
          <p:cNvSpPr txBox="1"/>
          <p:nvPr/>
        </p:nvSpPr>
        <p:spPr>
          <a:xfrm>
            <a:off x="1554480" y="219456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Admin records 172 mm for WEATHER-001 in Hyderabad Central (idempotency key stops duplicates)</a:t>
            </a:r>
            <a:endParaRPr lang="en-US" sz="1250" dirty="0"/>
          </a:p>
        </p:txBody>
      </p:sp>
      <p:sp>
        <p:nvSpPr>
          <p:cNvPr id="10" name="card-361"/>
          <p:cNvSpPr/>
          <p:nvPr/>
        </p:nvSpPr>
        <p:spPr>
          <a:xfrm>
            <a:off x="548640" y="3017520"/>
            <a:ext cx="539496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rgbClr val="EAD9DF"/>
            </a:solidFill>
            <a:prstDash val="solid"/>
          </a:ln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11" name="num-362"/>
          <p:cNvSpPr/>
          <p:nvPr/>
        </p:nvSpPr>
        <p:spPr>
          <a:xfrm>
            <a:off x="749808" y="3310128"/>
            <a:ext cx="603504" cy="60350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2" name="text-363"/>
          <p:cNvSpPr txBox="1"/>
          <p:nvPr/>
        </p:nvSpPr>
        <p:spPr>
          <a:xfrm>
            <a:off x="749808" y="33101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chip-364"/>
          <p:cNvSpPr/>
          <p:nvPr/>
        </p:nvSpPr>
        <p:spPr>
          <a:xfrm>
            <a:off x="1554480" y="3182112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4" name="text-365"/>
          <p:cNvSpPr txBox="1"/>
          <p:nvPr/>
        </p:nvSpPr>
        <p:spPr>
          <a:xfrm>
            <a:off x="1554480" y="318211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Product svc</a:t>
            </a:r>
            <a:endParaRPr lang="en-US" sz="1100" dirty="0"/>
          </a:p>
        </p:txBody>
      </p:sp>
      <p:sp>
        <p:nvSpPr>
          <p:cNvPr id="15" name="text-366"/>
          <p:cNvSpPr txBox="1"/>
          <p:nvPr/>
        </p:nvSpPr>
        <p:spPr>
          <a:xfrm>
            <a:off x="1554480" y="356616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Trigger service loads active policies in that zone, each with its locked trigger snapshot</a:t>
            </a:r>
            <a:endParaRPr lang="en-US" sz="1250" dirty="0"/>
          </a:p>
        </p:txBody>
      </p:sp>
      <p:sp>
        <p:nvSpPr>
          <p:cNvPr id="16" name="card-367"/>
          <p:cNvSpPr/>
          <p:nvPr/>
        </p:nvSpPr>
        <p:spPr>
          <a:xfrm>
            <a:off x="548640" y="4389120"/>
            <a:ext cx="539496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rgbClr val="EAD9DF"/>
            </a:solidFill>
            <a:prstDash val="solid"/>
          </a:ln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17" name="num-368"/>
          <p:cNvSpPr/>
          <p:nvPr/>
        </p:nvSpPr>
        <p:spPr>
          <a:xfrm>
            <a:off x="749808" y="4681728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-369"/>
          <p:cNvSpPr txBox="1"/>
          <p:nvPr/>
        </p:nvSpPr>
        <p:spPr>
          <a:xfrm>
            <a:off x="749808" y="46817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chip-370"/>
          <p:cNvSpPr/>
          <p:nvPr/>
        </p:nvSpPr>
        <p:spPr>
          <a:xfrm>
            <a:off x="1554480" y="4553712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0" name="text-371"/>
          <p:cNvSpPr txBox="1"/>
          <p:nvPr/>
        </p:nvSpPr>
        <p:spPr>
          <a:xfrm>
            <a:off x="1554480" y="455371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Trigger svc</a:t>
            </a:r>
            <a:endParaRPr lang="en-US" sz="1100" dirty="0"/>
          </a:p>
        </p:txBody>
      </p:sp>
      <p:sp>
        <p:nvSpPr>
          <p:cNvPr id="21" name="text-372"/>
          <p:cNvSpPr txBox="1"/>
          <p:nvPr/>
        </p:nvSpPr>
        <p:spPr>
          <a:xfrm>
            <a:off x="1554480" y="493776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Each paid policy is compared with its own threshold; a VERIFIED trigger event is saved</a:t>
            </a:r>
            <a:endParaRPr lang="en-US" sz="1250" dirty="0"/>
          </a:p>
        </p:txBody>
      </p:sp>
      <p:sp>
        <p:nvSpPr>
          <p:cNvPr id="22" name="card-373"/>
          <p:cNvSpPr/>
          <p:nvPr/>
        </p:nvSpPr>
        <p:spPr>
          <a:xfrm>
            <a:off x="6217920" y="1645920"/>
            <a:ext cx="539496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rgbClr val="EAD9DF"/>
            </a:solidFill>
            <a:prstDash val="solid"/>
          </a:ln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23" name="num-374"/>
          <p:cNvSpPr/>
          <p:nvPr/>
        </p:nvSpPr>
        <p:spPr>
          <a:xfrm>
            <a:off x="6419088" y="1938528"/>
            <a:ext cx="603504" cy="60350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text-375"/>
          <p:cNvSpPr txBox="1"/>
          <p:nvPr/>
        </p:nvSpPr>
        <p:spPr>
          <a:xfrm>
            <a:off x="6419088" y="19385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chip-376"/>
          <p:cNvSpPr/>
          <p:nvPr/>
        </p:nvSpPr>
        <p:spPr>
          <a:xfrm>
            <a:off x="7223760" y="1810512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6" name="text-377"/>
          <p:cNvSpPr txBox="1"/>
          <p:nvPr/>
        </p:nvSpPr>
        <p:spPr>
          <a:xfrm>
            <a:off x="7223760" y="181051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Claims svc</a:t>
            </a:r>
            <a:endParaRPr lang="en-US" sz="1100" dirty="0"/>
          </a:p>
        </p:txBody>
      </p:sp>
      <p:sp>
        <p:nvSpPr>
          <p:cNvPr id="27" name="text-378"/>
          <p:cNvSpPr txBox="1"/>
          <p:nvPr/>
        </p:nvSpPr>
        <p:spPr>
          <a:xfrm>
            <a:off x="7223760" y="219456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Claims service creates one automatic claim per matching policy and notifies the customer</a:t>
            </a:r>
            <a:endParaRPr lang="en-US" sz="1250" dirty="0"/>
          </a:p>
        </p:txBody>
      </p:sp>
      <p:sp>
        <p:nvSpPr>
          <p:cNvPr id="28" name="card-379"/>
          <p:cNvSpPr/>
          <p:nvPr/>
        </p:nvSpPr>
        <p:spPr>
          <a:xfrm>
            <a:off x="6217920" y="3017520"/>
            <a:ext cx="539496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rgbClr val="EAD9DF"/>
            </a:solidFill>
            <a:prstDash val="solid"/>
          </a:ln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29" name="num-380"/>
          <p:cNvSpPr/>
          <p:nvPr/>
        </p:nvSpPr>
        <p:spPr>
          <a:xfrm>
            <a:off x="6419088" y="3310128"/>
            <a:ext cx="603504" cy="60350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0" name="text-381"/>
          <p:cNvSpPr txBox="1"/>
          <p:nvPr/>
        </p:nvSpPr>
        <p:spPr>
          <a:xfrm>
            <a:off x="6419088" y="33101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chip-382"/>
          <p:cNvSpPr/>
          <p:nvPr/>
        </p:nvSpPr>
        <p:spPr>
          <a:xfrm>
            <a:off x="7223760" y="3182112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2" name="text-383"/>
          <p:cNvSpPr txBox="1"/>
          <p:nvPr/>
        </p:nvSpPr>
        <p:spPr>
          <a:xfrm>
            <a:off x="7223760" y="318211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Claims svc</a:t>
            </a:r>
            <a:endParaRPr lang="en-US" sz="1100" dirty="0"/>
          </a:p>
        </p:txBody>
      </p:sp>
      <p:sp>
        <p:nvSpPr>
          <p:cNvPr id="33" name="text-384"/>
          <p:cNvSpPr txBox="1"/>
          <p:nvPr/>
        </p:nvSpPr>
        <p:spPr>
          <a:xfrm>
            <a:off x="7223760" y="356616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Claims officer approves an amount; claims service asks Financial for the payout</a:t>
            </a:r>
            <a:endParaRPr lang="en-US" sz="1250" dirty="0"/>
          </a:p>
        </p:txBody>
      </p:sp>
      <p:sp>
        <p:nvSpPr>
          <p:cNvPr id="34" name="card-385"/>
          <p:cNvSpPr/>
          <p:nvPr/>
        </p:nvSpPr>
        <p:spPr>
          <a:xfrm>
            <a:off x="6217920" y="4389120"/>
            <a:ext cx="539496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rgbClr val="EAD9DF"/>
            </a:solidFill>
            <a:prstDash val="solid"/>
          </a:ln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35" name="num-386"/>
          <p:cNvSpPr/>
          <p:nvPr/>
        </p:nvSpPr>
        <p:spPr>
          <a:xfrm>
            <a:off x="6419088" y="4681728"/>
            <a:ext cx="603504" cy="603504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6" name="text-387"/>
          <p:cNvSpPr txBox="1"/>
          <p:nvPr/>
        </p:nvSpPr>
        <p:spPr>
          <a:xfrm>
            <a:off x="6419088" y="46817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7" name="chip-388"/>
          <p:cNvSpPr/>
          <p:nvPr/>
        </p:nvSpPr>
        <p:spPr>
          <a:xfrm>
            <a:off x="7223760" y="4553712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38" name="text-389"/>
          <p:cNvSpPr txBox="1"/>
          <p:nvPr/>
        </p:nvSpPr>
        <p:spPr>
          <a:xfrm>
            <a:off x="7223760" y="455371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Financial svc</a:t>
            </a:r>
            <a:endParaRPr lang="en-US" sz="1100" dirty="0"/>
          </a:p>
        </p:txBody>
      </p:sp>
      <p:sp>
        <p:nvSpPr>
          <p:cNvPr id="39" name="text-390"/>
          <p:cNvSpPr txBox="1"/>
          <p:nvPr/>
        </p:nvSpPr>
        <p:spPr>
          <a:xfrm>
            <a:off x="7223760" y="493776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Payout is paid at once, claim is settled, trigger event marked PROCESSED</a:t>
            </a:r>
            <a:endParaRPr lang="en-US" sz="1250" dirty="0"/>
          </a:p>
        </p:txBody>
      </p:sp>
      <p:sp>
        <p:nvSpPr>
          <p:cNvPr id="40" name="text-391"/>
          <p:cNvSpPr txBox="1"/>
          <p:nvPr/>
        </p:nvSpPr>
        <p:spPr>
          <a:xfrm>
            <a:off x="548640" y="58978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2"/>
                </a:solidFill>
              </a:rPr>
              <a:t>Every step publishes an in-app notification, so customer and staff see progress live.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2"/>
                </a:solidFill>
              </a:rPr>
              <a:t>SECURITY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Defence in depth, from browser to database</a:t>
            </a:r>
            <a:endParaRPr lang="en-US" sz="3200" dirty="0"/>
          </a:p>
        </p:txBody>
      </p:sp>
      <p:sp>
        <p:nvSpPr>
          <p:cNvPr id="4" name="card-392"/>
          <p:cNvSpPr/>
          <p:nvPr/>
        </p:nvSpPr>
        <p:spPr>
          <a:xfrm>
            <a:off x="548640" y="1600200"/>
            <a:ext cx="3520440" cy="19659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12700">
            <a:solidFill>
              <a:srgbClr val="EAD9DF"/>
            </a:solidFill>
            <a:prstDash val="solid"/>
          </a:ln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5" name="icon-bg-393"/>
          <p:cNvSpPr/>
          <p:nvPr/>
        </p:nvSpPr>
        <p:spPr>
          <a:xfrm>
            <a:off x="7772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394" descr="/tmp/claude-0/-home-user/472ad997-b1d8-52e7-b63c-66353a6ff570/scratchpad/deck/assets/icon-key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1970532"/>
            <a:ext cx="283464" cy="283464"/>
          </a:xfrm>
          <a:prstGeom prst="rect">
            <a:avLst/>
          </a:prstGeom>
        </p:spPr>
      </p:pic>
      <p:sp>
        <p:nvSpPr>
          <p:cNvPr id="7" name="text-395"/>
          <p:cNvSpPr txBox="1"/>
          <p:nvPr/>
        </p:nvSpPr>
        <p:spPr>
          <a:xfrm>
            <a:off x="1463040" y="18745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JWT authentication</a:t>
            </a:r>
            <a:endParaRPr lang="en-US" sz="1500" dirty="0"/>
          </a:p>
        </p:txBody>
      </p:sp>
      <p:sp>
        <p:nvSpPr>
          <p:cNvPr id="8" name="text-396"/>
          <p:cNvSpPr txBox="1"/>
          <p:nvPr/>
        </p:nvSpPr>
        <p:spPr>
          <a:xfrm>
            <a:off x="777240" y="25603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HMAC-signed access token (15 min) and refresh token (7 days); passwords hashed with BCrypt</a:t>
            </a:r>
            <a:endParaRPr lang="en-US" sz="1400" dirty="0"/>
          </a:p>
        </p:txBody>
      </p:sp>
      <p:sp>
        <p:nvSpPr>
          <p:cNvPr id="9" name="card-397"/>
          <p:cNvSpPr/>
          <p:nvPr/>
        </p:nvSpPr>
        <p:spPr>
          <a:xfrm>
            <a:off x="4325112" y="1600200"/>
            <a:ext cx="3520440" cy="1965960"/>
          </a:xfrm>
          <a:prstGeom prst="roundRect">
            <a:avLst>
              <a:gd name="adj" fmla="val 558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10" name="icon-bg-398"/>
          <p:cNvSpPr/>
          <p:nvPr/>
        </p:nvSpPr>
        <p:spPr>
          <a:xfrm>
            <a:off x="4553712" y="182880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con-399" descr="/tmp/claude-0/-home-user/472ad997-b1d8-52e7-b63c-66353a6ff570/scratchpad/deck/assets/icon-shield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5444" y="1970532"/>
            <a:ext cx="283464" cy="283464"/>
          </a:xfrm>
          <a:prstGeom prst="rect">
            <a:avLst/>
          </a:prstGeom>
        </p:spPr>
      </p:pic>
      <p:sp>
        <p:nvSpPr>
          <p:cNvPr id="12" name="text-400"/>
          <p:cNvSpPr txBox="1"/>
          <p:nvPr/>
        </p:nvSpPr>
        <p:spPr>
          <a:xfrm>
            <a:off x="5239512" y="18745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Gateway as the only door</a:t>
            </a:r>
            <a:endParaRPr lang="en-US" sz="1500" dirty="0"/>
          </a:p>
        </p:txBody>
      </p:sp>
      <p:sp>
        <p:nvSpPr>
          <p:cNvPr id="13" name="text-401"/>
          <p:cNvSpPr txBox="1"/>
          <p:nvPr/>
        </p:nvSpPr>
        <p:spPr>
          <a:xfrm>
            <a:off x="4553712" y="25603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Validates every JWT, strips spoofed identity headers, adds the trusted user id and role</a:t>
            </a:r>
            <a:endParaRPr lang="en-US" sz="1400" dirty="0"/>
          </a:p>
        </p:txBody>
      </p:sp>
      <p:sp>
        <p:nvSpPr>
          <p:cNvPr id="14" name="card-402"/>
          <p:cNvSpPr/>
          <p:nvPr/>
        </p:nvSpPr>
        <p:spPr>
          <a:xfrm>
            <a:off x="8101584" y="1600200"/>
            <a:ext cx="3520440" cy="19659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12700">
            <a:solidFill>
              <a:srgbClr val="EAD9DF"/>
            </a:solidFill>
            <a:prstDash val="solid"/>
          </a:ln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15" name="icon-bg-403"/>
          <p:cNvSpPr/>
          <p:nvPr/>
        </p:nvSpPr>
        <p:spPr>
          <a:xfrm>
            <a:off x="8330184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-404" descr="/tmp/claude-0/-home-user/472ad997-b1d8-52e7-b63c-66353a6ff570/scratchpad/deck/assets/icon-lock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1916" y="1970532"/>
            <a:ext cx="283464" cy="283464"/>
          </a:xfrm>
          <a:prstGeom prst="rect">
            <a:avLst/>
          </a:prstGeom>
        </p:spPr>
      </p:pic>
      <p:sp>
        <p:nvSpPr>
          <p:cNvPr id="17" name="text-405"/>
          <p:cNvSpPr txBox="1"/>
          <p:nvPr/>
        </p:nvSpPr>
        <p:spPr>
          <a:xfrm>
            <a:off x="9015984" y="18745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Gateway key on every service</a:t>
            </a:r>
            <a:endParaRPr lang="en-US" sz="1500" dirty="0"/>
          </a:p>
        </p:txBody>
      </p:sp>
      <p:sp>
        <p:nvSpPr>
          <p:cNvPr id="18" name="text-406"/>
          <p:cNvSpPr txBox="1"/>
          <p:nvPr/>
        </p:nvSpPr>
        <p:spPr>
          <a:xfrm>
            <a:off x="8330184" y="25603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Services reject any call without the internal gateway key header, so they cannot be called directly</a:t>
            </a:r>
            <a:endParaRPr lang="en-US" sz="1400" dirty="0"/>
          </a:p>
        </p:txBody>
      </p:sp>
      <p:sp>
        <p:nvSpPr>
          <p:cNvPr id="19" name="card-407"/>
          <p:cNvSpPr/>
          <p:nvPr/>
        </p:nvSpPr>
        <p:spPr>
          <a:xfrm>
            <a:off x="548640" y="3840480"/>
            <a:ext cx="3520440" cy="19659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12700">
            <a:solidFill>
              <a:srgbClr val="EAD9DF"/>
            </a:solidFill>
            <a:prstDash val="solid"/>
          </a:ln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20" name="icon-bg-408"/>
          <p:cNvSpPr/>
          <p:nvPr/>
        </p:nvSpPr>
        <p:spPr>
          <a:xfrm>
            <a:off x="777240" y="406908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icon-409" descr="/tmp/claude-0/-home-user/472ad997-b1d8-52e7-b63c-66353a6ff570/scratchpad/deck/assets/icon-users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" y="4210812"/>
            <a:ext cx="283464" cy="283464"/>
          </a:xfrm>
          <a:prstGeom prst="rect">
            <a:avLst/>
          </a:prstGeom>
        </p:spPr>
      </p:pic>
      <p:sp>
        <p:nvSpPr>
          <p:cNvPr id="22" name="text-410"/>
          <p:cNvSpPr txBox="1"/>
          <p:nvPr/>
        </p:nvSpPr>
        <p:spPr>
          <a:xfrm>
            <a:off x="1463040" y="41148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Role-based access</a:t>
            </a:r>
            <a:endParaRPr lang="en-US" sz="1500" dirty="0"/>
          </a:p>
        </p:txBody>
      </p:sp>
      <p:sp>
        <p:nvSpPr>
          <p:cNvPr id="23" name="text-411"/>
          <p:cNvSpPr txBox="1"/>
          <p:nvPr/>
        </p:nvSpPr>
        <p:spPr>
          <a:xfrm>
            <a:off x="777240" y="48006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Customer, underwriter, claims officer, admin — checked in handlers and in Angular route guards</a:t>
            </a:r>
            <a:endParaRPr lang="en-US" sz="1400" dirty="0"/>
          </a:p>
        </p:txBody>
      </p:sp>
      <p:sp>
        <p:nvSpPr>
          <p:cNvPr id="24" name="card-412"/>
          <p:cNvSpPr/>
          <p:nvPr/>
        </p:nvSpPr>
        <p:spPr>
          <a:xfrm>
            <a:off x="4325112" y="3840480"/>
            <a:ext cx="3520440" cy="19659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12700">
            <a:solidFill>
              <a:srgbClr val="EAD9DF"/>
            </a:solidFill>
            <a:prstDash val="solid"/>
          </a:ln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25" name="icon-bg-413"/>
          <p:cNvSpPr/>
          <p:nvPr/>
        </p:nvSpPr>
        <p:spPr>
          <a:xfrm>
            <a:off x="4553712" y="40690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con-414" descr="/tmp/claude-0/-home-user/472ad997-b1d8-52e7-b63c-66353a6ff570/scratchpad/deck/assets/icon-network-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5444" y="4210812"/>
            <a:ext cx="283464" cy="283464"/>
          </a:xfrm>
          <a:prstGeom prst="rect">
            <a:avLst/>
          </a:prstGeom>
        </p:spPr>
      </p:pic>
      <p:sp>
        <p:nvSpPr>
          <p:cNvPr id="27" name="text-415"/>
          <p:cNvSpPr txBox="1"/>
          <p:nvPr/>
        </p:nvSpPr>
        <p:spPr>
          <a:xfrm>
            <a:off x="5239512" y="41148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Internal endpoints hidden</a:t>
            </a:r>
            <a:endParaRPr lang="en-US" sz="1500" dirty="0"/>
          </a:p>
        </p:txBody>
      </p:sp>
      <p:sp>
        <p:nvSpPr>
          <p:cNvPr id="28" name="text-416"/>
          <p:cNvSpPr txBox="1"/>
          <p:nvPr/>
        </p:nvSpPr>
        <p:spPr>
          <a:xfrm>
            <a:off x="4553712" y="48006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/internal/** APIs are never routed by the gateway; only services call them</a:t>
            </a:r>
            <a:endParaRPr lang="en-US" sz="1400" dirty="0"/>
          </a:p>
        </p:txBody>
      </p:sp>
      <p:sp>
        <p:nvSpPr>
          <p:cNvPr id="29" name="card-417"/>
          <p:cNvSpPr/>
          <p:nvPr/>
        </p:nvSpPr>
        <p:spPr>
          <a:xfrm>
            <a:off x="8101584" y="3840480"/>
            <a:ext cx="3520440" cy="19659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12700">
            <a:solidFill>
              <a:srgbClr val="EAD9DF"/>
            </a:solidFill>
            <a:prstDash val="solid"/>
          </a:ln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30" name="icon-bg-418"/>
          <p:cNvSpPr/>
          <p:nvPr/>
        </p:nvSpPr>
        <p:spPr>
          <a:xfrm>
            <a:off x="8330184" y="406908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1" name="icon-419" descr="/tmp/claude-0/-home-user/472ad997-b1d8-52e7-b63c-66353a6ff570/scratchpad/deck/assets/icon-check-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1916" y="4210812"/>
            <a:ext cx="283464" cy="283464"/>
          </a:xfrm>
          <a:prstGeom prst="rect">
            <a:avLst/>
          </a:prstGeom>
        </p:spPr>
      </p:pic>
      <p:sp>
        <p:nvSpPr>
          <p:cNvPr id="32" name="text-420"/>
          <p:cNvSpPr txBox="1"/>
          <p:nvPr/>
        </p:nvSpPr>
        <p:spPr>
          <a:xfrm>
            <a:off x="9015984" y="41148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Safe by design</a:t>
            </a:r>
            <a:endParaRPr lang="en-US" sz="1500" dirty="0"/>
          </a:p>
        </p:txBody>
      </p:sp>
      <p:sp>
        <p:nvSpPr>
          <p:cNvPr id="33" name="text-421"/>
          <p:cNvSpPr txBox="1"/>
          <p:nvPr/>
        </p:nvSpPr>
        <p:spPr>
          <a:xfrm>
            <a:off x="8330184" y="48006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Ownership checks, input validation, idempotency keys, and a token refresh before it expires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2"/>
                </a:solidFill>
              </a:rPr>
              <a:t>OBSERVABILITY &amp; DATABASE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Visible at runtime, clean at rest</a:t>
            </a:r>
            <a:endParaRPr lang="en-US" sz="3200" dirty="0"/>
          </a:p>
        </p:txBody>
      </p:sp>
      <p:sp>
        <p:nvSpPr>
          <p:cNvPr id="4" name="text-422"/>
          <p:cNvSpPr txBox="1"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</a:t>
            </a:r>
            <a:endParaRPr lang="en-US" sz="1800" dirty="0"/>
          </a:p>
        </p:txBody>
      </p:sp>
      <p:sp>
        <p:nvSpPr>
          <p:cNvPr id="5" name="icon-bg-423"/>
          <p:cNvSpPr/>
          <p:nvPr/>
        </p:nvSpPr>
        <p:spPr>
          <a:xfrm>
            <a:off x="548640" y="20574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424" descr="/tmp/claude-0/-home-user/472ad997-b1d8-52e7-b63c-66353a6ff570/scratchpad/deck/assets/icon-heart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94560"/>
            <a:ext cx="274320" cy="274320"/>
          </a:xfrm>
          <a:prstGeom prst="rect">
            <a:avLst/>
          </a:prstGeom>
        </p:spPr>
      </p:pic>
      <p:sp>
        <p:nvSpPr>
          <p:cNvPr id="7" name="text-425"/>
          <p:cNvSpPr txBox="1"/>
          <p:nvPr/>
        </p:nvSpPr>
        <p:spPr>
          <a:xfrm>
            <a:off x="1261872" y="203911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Actuator health, info, metrics, mappings</a:t>
            </a:r>
            <a:endParaRPr lang="en-US" sz="1400" dirty="0"/>
          </a:p>
        </p:txBody>
      </p:sp>
      <p:sp>
        <p:nvSpPr>
          <p:cNvPr id="8" name="text-426"/>
          <p:cNvSpPr txBox="1"/>
          <p:nvPr/>
        </p:nvSpPr>
        <p:spPr>
          <a:xfrm>
            <a:off x="1261872" y="23500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Exposed per service and through the gateway</a:t>
            </a:r>
            <a:endParaRPr lang="en-US" sz="1250" dirty="0"/>
          </a:p>
        </p:txBody>
      </p:sp>
      <p:sp>
        <p:nvSpPr>
          <p:cNvPr id="9" name="icon-bg-427"/>
          <p:cNvSpPr/>
          <p:nvPr/>
        </p:nvSpPr>
        <p:spPr>
          <a:xfrm>
            <a:off x="548640" y="30632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con-428" descr="/tmp/claude-0/-home-user/472ad997-b1d8-52e7-b63c-66353a6ff570/scratchpad/deck/assets/icon-satellite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200400"/>
            <a:ext cx="274320" cy="274320"/>
          </a:xfrm>
          <a:prstGeom prst="rect">
            <a:avLst/>
          </a:prstGeom>
        </p:spPr>
      </p:pic>
      <p:sp>
        <p:nvSpPr>
          <p:cNvPr id="11" name="text-429"/>
          <p:cNvSpPr txBox="1"/>
          <p:nvPr/>
        </p:nvSpPr>
        <p:spPr>
          <a:xfrm>
            <a:off x="1261872" y="304495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Eureka dashboard</a:t>
            </a:r>
            <a:endParaRPr lang="en-US" sz="1400" dirty="0"/>
          </a:p>
        </p:txBody>
      </p:sp>
      <p:sp>
        <p:nvSpPr>
          <p:cNvPr id="12" name="text-430"/>
          <p:cNvSpPr txBox="1"/>
          <p:nvPr/>
        </p:nvSpPr>
        <p:spPr>
          <a:xfrm>
            <a:off x="1261872" y="33558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See every registered service instance</a:t>
            </a:r>
            <a:endParaRPr lang="en-US" sz="1250" dirty="0"/>
          </a:p>
        </p:txBody>
      </p:sp>
      <p:sp>
        <p:nvSpPr>
          <p:cNvPr id="13" name="icon-bg-431"/>
          <p:cNvSpPr/>
          <p:nvPr/>
        </p:nvSpPr>
        <p:spPr>
          <a:xfrm>
            <a:off x="548640" y="4069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on-432" descr="/tmp/claude-0/-home-user/472ad997-b1d8-52e7-b63c-66353a6ff570/scratchpad/deck/assets/icon-search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206240"/>
            <a:ext cx="274320" cy="274320"/>
          </a:xfrm>
          <a:prstGeom prst="rect">
            <a:avLst/>
          </a:prstGeom>
        </p:spPr>
      </p:pic>
      <p:sp>
        <p:nvSpPr>
          <p:cNvPr id="15" name="text-433"/>
          <p:cNvSpPr txBox="1"/>
          <p:nvPr/>
        </p:nvSpPr>
        <p:spPr>
          <a:xfrm>
            <a:off x="1261872" y="405079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Logs per service</a:t>
            </a:r>
            <a:endParaRPr lang="en-US" sz="1400" dirty="0"/>
          </a:p>
        </p:txBody>
      </p:sp>
      <p:sp>
        <p:nvSpPr>
          <p:cNvPr id="16" name="text-434"/>
          <p:cNvSpPr txBox="1"/>
          <p:nvPr/>
        </p:nvSpPr>
        <p:spPr>
          <a:xfrm>
            <a:off x="1261872" y="43616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Request failures logged with method, path and status</a:t>
            </a:r>
            <a:endParaRPr lang="en-US" sz="1250" dirty="0"/>
          </a:p>
        </p:txBody>
      </p:sp>
      <p:sp>
        <p:nvSpPr>
          <p:cNvPr id="17" name="icon-bg-435"/>
          <p:cNvSpPr/>
          <p:nvPr/>
        </p:nvSpPr>
        <p:spPr>
          <a:xfrm>
            <a:off x="548640" y="50749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icon-436" descr="/tmp/claude-0/-home-user/472ad997-b1d8-52e7-b63c-66353a6ff570/scratchpad/deck/assets/icon-list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212080"/>
            <a:ext cx="274320" cy="274320"/>
          </a:xfrm>
          <a:prstGeom prst="rect">
            <a:avLst/>
          </a:prstGeom>
        </p:spPr>
      </p:pic>
      <p:sp>
        <p:nvSpPr>
          <p:cNvPr id="19" name="text-437"/>
          <p:cNvSpPr txBox="1"/>
          <p:nvPr/>
        </p:nvSpPr>
        <p:spPr>
          <a:xfrm>
            <a:off x="1261872" y="505663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Consistent error responses</a:t>
            </a:r>
            <a:endParaRPr lang="en-US" sz="1400" dirty="0"/>
          </a:p>
        </p:txBody>
      </p:sp>
      <p:sp>
        <p:nvSpPr>
          <p:cNvPr id="20" name="text-438"/>
          <p:cNvSpPr txBox="1"/>
          <p:nvPr/>
        </p:nvSpPr>
        <p:spPr>
          <a:xfrm>
            <a:off x="1261872" y="53675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Global error handler returns status, messages and path</a:t>
            </a:r>
            <a:endParaRPr lang="en-US" sz="1250" dirty="0"/>
          </a:p>
        </p:txBody>
      </p:sp>
      <p:sp>
        <p:nvSpPr>
          <p:cNvPr id="21" name="card-439"/>
          <p:cNvSpPr/>
          <p:nvPr/>
        </p:nvSpPr>
        <p:spPr>
          <a:xfrm>
            <a:off x="6355080" y="1554480"/>
            <a:ext cx="5287975" cy="4526280"/>
          </a:xfrm>
          <a:prstGeom prst="roundRect">
            <a:avLst>
              <a:gd name="adj" fmla="val 2424"/>
            </a:avLst>
          </a:prstGeom>
          <a:solidFill>
            <a:schemeClr val="bg1"/>
          </a:solidFill>
          <a:ln w="12700">
            <a:solidFill>
              <a:srgbClr val="EAD9DF"/>
            </a:solidFill>
            <a:prstDash val="solid"/>
          </a:ln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22" name="text-440"/>
          <p:cNvSpPr txBox="1"/>
          <p:nvPr/>
        </p:nvSpPr>
        <p:spPr>
          <a:xfrm>
            <a:off x="6629400" y="1691640"/>
            <a:ext cx="4739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per service — 28 tables</a:t>
            </a:r>
            <a:endParaRPr lang="en-US" sz="1600" dirty="0"/>
          </a:p>
        </p:txBody>
      </p:sp>
      <p:graphicFrame>
        <p:nvGraphicFramePr>
          <p:cNvPr id="23" name="chart-tables-441" descr=""/>
          <p:cNvGraphicFramePr/>
          <p:nvPr/>
        </p:nvGraphicFramePr>
        <p:xfrm>
          <a:off x="6537960" y="2103120"/>
          <a:ext cx="4922215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4" name="bullets-442"/>
          <p:cNvSpPr txBox="1"/>
          <p:nvPr/>
        </p:nvSpPr>
        <p:spPr>
          <a:xfrm>
            <a:off x="6675120" y="4572000"/>
            <a:ext cx="473933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H2 file databases accessed with R2DBC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schema.sql runs on start-up with safe migrations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Idempotency keys on measurements and notifications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Automatic cleanup of old readings and notifications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2"/>
                </a:solidFill>
              </a:rPr>
              <a:t>TESTING &amp; QUALITY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870 automated tests across the stack</a:t>
            </a:r>
            <a:endParaRPr lang="en-US" sz="3200" dirty="0"/>
          </a:p>
        </p:txBody>
      </p:sp>
      <p:sp>
        <p:nvSpPr>
          <p:cNvPr id="4" name="card-443"/>
          <p:cNvSpPr/>
          <p:nvPr/>
        </p:nvSpPr>
        <p:spPr>
          <a:xfrm>
            <a:off x="548640" y="1554480"/>
            <a:ext cx="6766560" cy="4526280"/>
          </a:xfrm>
          <a:prstGeom prst="roundRect">
            <a:avLst>
              <a:gd name="adj" fmla="val 2424"/>
            </a:avLst>
          </a:prstGeom>
          <a:solidFill>
            <a:schemeClr val="bg1"/>
          </a:solidFill>
          <a:ln w="12700">
            <a:solidFill>
              <a:srgbClr val="EAD9DF"/>
            </a:solidFill>
            <a:prstDash val="solid"/>
          </a:ln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5" name="text-444"/>
          <p:cNvSpPr txBox="1"/>
          <p:nvPr/>
        </p:nvSpPr>
        <p:spPr>
          <a:xfrm>
            <a:off x="822960" y="16916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tests per service</a:t>
            </a:r>
            <a:endParaRPr lang="en-US" sz="1600" dirty="0"/>
          </a:p>
        </p:txBody>
      </p:sp>
      <p:graphicFrame>
        <p:nvGraphicFramePr>
          <p:cNvPr id="6" name="chart-tests-445" descr=""/>
          <p:cNvGraphicFramePr/>
          <p:nvPr/>
        </p:nvGraphicFramePr>
        <p:xfrm>
          <a:off x="731520" y="2103120"/>
          <a:ext cx="64008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card-446"/>
          <p:cNvSpPr/>
          <p:nvPr/>
        </p:nvSpPr>
        <p:spPr>
          <a:xfrm>
            <a:off x="7589520" y="1554480"/>
            <a:ext cx="4053535" cy="1078992"/>
          </a:xfrm>
          <a:prstGeom prst="roundRect">
            <a:avLst>
              <a:gd name="adj" fmla="val 10169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8" name="text-447"/>
          <p:cNvSpPr txBox="1"/>
          <p:nvPr/>
        </p:nvSpPr>
        <p:spPr>
          <a:xfrm>
            <a:off x="7790688" y="16916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577</a:t>
            </a:r>
            <a:endParaRPr lang="en-US" sz="2600" dirty="0"/>
          </a:p>
        </p:txBody>
      </p:sp>
      <p:sp>
        <p:nvSpPr>
          <p:cNvPr id="9" name="text-448"/>
          <p:cNvSpPr txBox="1"/>
          <p:nvPr/>
        </p:nvSpPr>
        <p:spPr>
          <a:xfrm>
            <a:off x="9509760" y="1737360"/>
            <a:ext cx="19961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backend tests</a:t>
            </a:r>
            <a:endParaRPr lang="en-US" sz="1400" dirty="0"/>
          </a:p>
        </p:txBody>
      </p:sp>
      <p:sp>
        <p:nvSpPr>
          <p:cNvPr id="10" name="text-449"/>
          <p:cNvSpPr txBox="1"/>
          <p:nvPr/>
        </p:nvSpPr>
        <p:spPr>
          <a:xfrm>
            <a:off x="9509760" y="2057400"/>
            <a:ext cx="1996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JUnit 5 · Mockito · StepVerifier · WebTestClient</a:t>
            </a:r>
            <a:endParaRPr lang="en-US" sz="1150" dirty="0"/>
          </a:p>
        </p:txBody>
      </p:sp>
      <p:sp>
        <p:nvSpPr>
          <p:cNvPr id="11" name="card-450"/>
          <p:cNvSpPr/>
          <p:nvPr/>
        </p:nvSpPr>
        <p:spPr>
          <a:xfrm>
            <a:off x="7589520" y="2761488"/>
            <a:ext cx="4053535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/>
        </p:spPr>
      </p:sp>
      <p:sp>
        <p:nvSpPr>
          <p:cNvPr id="12" name="text-451"/>
          <p:cNvSpPr txBox="1"/>
          <p:nvPr/>
        </p:nvSpPr>
        <p:spPr>
          <a:xfrm>
            <a:off x="7790688" y="289864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293</a:t>
            </a:r>
            <a:endParaRPr lang="en-US" sz="2600" dirty="0"/>
          </a:p>
        </p:txBody>
      </p:sp>
      <p:sp>
        <p:nvSpPr>
          <p:cNvPr id="13" name="text-452"/>
          <p:cNvSpPr txBox="1"/>
          <p:nvPr/>
        </p:nvSpPr>
        <p:spPr>
          <a:xfrm>
            <a:off x="9509760" y="2944368"/>
            <a:ext cx="19961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frontend tests</a:t>
            </a:r>
            <a:endParaRPr lang="en-US" sz="1400" dirty="0"/>
          </a:p>
        </p:txBody>
      </p:sp>
      <p:sp>
        <p:nvSpPr>
          <p:cNvPr id="14" name="text-453"/>
          <p:cNvSpPr txBox="1"/>
          <p:nvPr/>
        </p:nvSpPr>
        <p:spPr>
          <a:xfrm>
            <a:off x="9509760" y="3264408"/>
            <a:ext cx="1996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Vitest + Angular TestBed, 124 spec files</a:t>
            </a:r>
            <a:endParaRPr lang="en-US" sz="1150" dirty="0"/>
          </a:p>
        </p:txBody>
      </p:sp>
      <p:sp>
        <p:nvSpPr>
          <p:cNvPr id="15" name="card-454"/>
          <p:cNvSpPr/>
          <p:nvPr/>
        </p:nvSpPr>
        <p:spPr>
          <a:xfrm>
            <a:off x="7589520" y="3968496"/>
            <a:ext cx="4053535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/>
        </p:spPr>
      </p:sp>
      <p:sp>
        <p:nvSpPr>
          <p:cNvPr id="16" name="text-455"/>
          <p:cNvSpPr txBox="1"/>
          <p:nvPr/>
        </p:nvSpPr>
        <p:spPr>
          <a:xfrm>
            <a:off x="7790688" y="4105656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79–98%</a:t>
            </a:r>
            <a:endParaRPr lang="en-US" sz="2600" dirty="0"/>
          </a:p>
        </p:txBody>
      </p:sp>
      <p:sp>
        <p:nvSpPr>
          <p:cNvPr id="17" name="text-456"/>
          <p:cNvSpPr txBox="1"/>
          <p:nvPr/>
        </p:nvSpPr>
        <p:spPr>
          <a:xfrm>
            <a:off x="9509760" y="4151376"/>
            <a:ext cx="19961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line coverage per service</a:t>
            </a:r>
            <a:endParaRPr lang="en-US" sz="1400" dirty="0"/>
          </a:p>
        </p:txBody>
      </p:sp>
      <p:sp>
        <p:nvSpPr>
          <p:cNvPr id="18" name="text-457"/>
          <p:cNvSpPr txBox="1"/>
          <p:nvPr/>
        </p:nvSpPr>
        <p:spPr>
          <a:xfrm>
            <a:off x="9509760" y="4471416"/>
            <a:ext cx="1996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Measured with JaCoCo on every service</a:t>
            </a:r>
            <a:endParaRPr lang="en-US" sz="1150" dirty="0"/>
          </a:p>
        </p:txBody>
      </p:sp>
      <p:sp>
        <p:nvSpPr>
          <p:cNvPr id="19" name="card-458"/>
          <p:cNvSpPr/>
          <p:nvPr/>
        </p:nvSpPr>
        <p:spPr>
          <a:xfrm>
            <a:off x="7589520" y="5212080"/>
            <a:ext cx="4053535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12700">
            <a:solidFill>
              <a:srgbClr val="EAD9DF"/>
            </a:solidFill>
            <a:prstDash val="solid"/>
          </a:ln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20" name="icon-bg-459"/>
          <p:cNvSpPr/>
          <p:nvPr/>
        </p:nvSpPr>
        <p:spPr>
          <a:xfrm>
            <a:off x="7772400" y="534924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icon-460" descr="/tmp/claude-0/-home-user/472ad997-b1d8-52e7-b63c-66353a6ff570/scratchpad/deck/assets/icon-play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4132" y="5490972"/>
            <a:ext cx="283464" cy="283464"/>
          </a:xfrm>
          <a:prstGeom prst="rect">
            <a:avLst/>
          </a:prstGeom>
        </p:spPr>
      </p:pic>
      <p:sp>
        <p:nvSpPr>
          <p:cNvPr id="22" name="text-461"/>
          <p:cNvSpPr txBox="1"/>
          <p:nvPr/>
        </p:nvSpPr>
        <p:spPr>
          <a:xfrm>
            <a:off x="8503920" y="5285232"/>
            <a:ext cx="3001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End-to-end checks in a real browser with Playwright before every release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2"/>
                </a:solidFill>
              </a:rPr>
              <a:t>USER JOURNEYS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mapped journeys across four roles and the system</a:t>
            </a:r>
            <a:endParaRPr lang="en-US" sz="3200" dirty="0"/>
          </a:p>
        </p:txBody>
      </p:sp>
      <p:sp>
        <p:nvSpPr>
          <p:cNvPr id="4" name="card-462"/>
          <p:cNvSpPr/>
          <p:nvPr/>
        </p:nvSpPr>
        <p:spPr>
          <a:xfrm>
            <a:off x="548640" y="1600200"/>
            <a:ext cx="2072579" cy="4480560"/>
          </a:xfrm>
          <a:prstGeom prst="roundRect">
            <a:avLst>
              <a:gd name="adj" fmla="val 5294"/>
            </a:avLst>
          </a:prstGeom>
          <a:solidFill>
            <a:schemeClr val="bg1"/>
          </a:solidFill>
          <a:ln w="12700">
            <a:solidFill>
              <a:srgbClr val="EAD9DF"/>
            </a:solidFill>
            <a:prstDash val="solid"/>
          </a:ln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5" name="icon-bg-463"/>
          <p:cNvSpPr/>
          <p:nvPr/>
        </p:nvSpPr>
        <p:spPr>
          <a:xfrm>
            <a:off x="1219170" y="18288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464" descr="/tmp/claude-0/-home-user/472ad997-b1d8-52e7-b63c-66353a6ff570/scratchpad/deck/assets/icon-user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2050" y="2011680"/>
            <a:ext cx="365760" cy="365760"/>
          </a:xfrm>
          <a:prstGeom prst="rect">
            <a:avLst/>
          </a:prstGeom>
        </p:spPr>
      </p:pic>
      <p:sp>
        <p:nvSpPr>
          <p:cNvPr id="7" name="text-465"/>
          <p:cNvSpPr txBox="1"/>
          <p:nvPr/>
        </p:nvSpPr>
        <p:spPr>
          <a:xfrm>
            <a:off x="640080" y="2651760"/>
            <a:ext cx="18896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</a:t>
            </a:r>
            <a:endParaRPr lang="en-US" sz="1600" dirty="0"/>
          </a:p>
        </p:txBody>
      </p:sp>
      <p:sp>
        <p:nvSpPr>
          <p:cNvPr id="8" name="bullets-466"/>
          <p:cNvSpPr txBox="1"/>
          <p:nvPr/>
        </p:nvSpPr>
        <p:spPr>
          <a:xfrm>
            <a:off x="731520" y="3154680"/>
            <a:ext cx="1752539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Register, log in, profile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Quote and apply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Pay premium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Track policies &amp; claims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Manual claim with evidence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Live notifications</a:t>
            </a:r>
            <a:endParaRPr lang="en-US" sz="1400" dirty="0"/>
          </a:p>
        </p:txBody>
      </p:sp>
      <p:sp>
        <p:nvSpPr>
          <p:cNvPr id="9" name="card-467"/>
          <p:cNvSpPr/>
          <p:nvPr/>
        </p:nvSpPr>
        <p:spPr>
          <a:xfrm>
            <a:off x="2804099" y="1600200"/>
            <a:ext cx="2072579" cy="448056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10" name="icon-bg-468"/>
          <p:cNvSpPr/>
          <p:nvPr/>
        </p:nvSpPr>
        <p:spPr>
          <a:xfrm>
            <a:off x="3474629" y="182880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con-469" descr="/tmp/claude-0/-home-user/472ad997-b1d8-52e7-b63c-66353a6ff570/scratchpad/deck/assets/icon-file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9" y="2011680"/>
            <a:ext cx="365760" cy="365760"/>
          </a:xfrm>
          <a:prstGeom prst="rect">
            <a:avLst/>
          </a:prstGeom>
        </p:spPr>
      </p:pic>
      <p:sp>
        <p:nvSpPr>
          <p:cNvPr id="12" name="text-470"/>
          <p:cNvSpPr txBox="1"/>
          <p:nvPr/>
        </p:nvSpPr>
        <p:spPr>
          <a:xfrm>
            <a:off x="2895539" y="2651760"/>
            <a:ext cx="18896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Underwriter</a:t>
            </a:r>
            <a:endParaRPr lang="en-US" sz="1600" dirty="0"/>
          </a:p>
        </p:txBody>
      </p:sp>
      <p:sp>
        <p:nvSpPr>
          <p:cNvPr id="13" name="bullets-471"/>
          <p:cNvSpPr txBox="1"/>
          <p:nvPr/>
        </p:nvSpPr>
        <p:spPr>
          <a:xfrm>
            <a:off x="2986979" y="3154680"/>
            <a:ext cx="1752539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Review the pending queue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Approve or reject with a reason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Review history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Zone exposure view</a:t>
            </a:r>
            <a:endParaRPr lang="en-US" sz="1400" dirty="0"/>
          </a:p>
        </p:txBody>
      </p:sp>
      <p:sp>
        <p:nvSpPr>
          <p:cNvPr id="14" name="card-472"/>
          <p:cNvSpPr/>
          <p:nvPr/>
        </p:nvSpPr>
        <p:spPr>
          <a:xfrm>
            <a:off x="5059558" y="1600200"/>
            <a:ext cx="2072579" cy="4480560"/>
          </a:xfrm>
          <a:prstGeom prst="roundRect">
            <a:avLst>
              <a:gd name="adj" fmla="val 5294"/>
            </a:avLst>
          </a:prstGeom>
          <a:solidFill>
            <a:schemeClr val="bg1"/>
          </a:solidFill>
          <a:ln w="12700">
            <a:solidFill>
              <a:srgbClr val="EAD9DF"/>
            </a:solidFill>
            <a:prstDash val="solid"/>
          </a:ln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15" name="icon-bg-473"/>
          <p:cNvSpPr/>
          <p:nvPr/>
        </p:nvSpPr>
        <p:spPr>
          <a:xfrm>
            <a:off x="5730088" y="18288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-474" descr="/tmp/claude-0/-home-user/472ad997-b1d8-52e7-b63c-66353a6ff570/scratchpad/deck/assets/icon-gavel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2968" y="2011680"/>
            <a:ext cx="365760" cy="365760"/>
          </a:xfrm>
          <a:prstGeom prst="rect">
            <a:avLst/>
          </a:prstGeom>
        </p:spPr>
      </p:pic>
      <p:sp>
        <p:nvSpPr>
          <p:cNvPr id="17" name="text-475"/>
          <p:cNvSpPr txBox="1"/>
          <p:nvPr/>
        </p:nvSpPr>
        <p:spPr>
          <a:xfrm>
            <a:off x="5150998" y="2651760"/>
            <a:ext cx="18896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Claims officer</a:t>
            </a:r>
            <a:endParaRPr lang="en-US" sz="1600" dirty="0"/>
          </a:p>
        </p:txBody>
      </p:sp>
      <p:sp>
        <p:nvSpPr>
          <p:cNvPr id="18" name="bullets-476"/>
          <p:cNvSpPr txBox="1"/>
          <p:nvPr/>
        </p:nvSpPr>
        <p:spPr>
          <a:xfrm>
            <a:off x="5242438" y="3154680"/>
            <a:ext cx="1752539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Claims queue &amp; live trigger events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Start review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Approve → payout paid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Reject or settle</a:t>
            </a:r>
            <a:endParaRPr lang="en-US" sz="1400" dirty="0"/>
          </a:p>
        </p:txBody>
      </p:sp>
      <p:sp>
        <p:nvSpPr>
          <p:cNvPr id="19" name="card-477"/>
          <p:cNvSpPr/>
          <p:nvPr/>
        </p:nvSpPr>
        <p:spPr>
          <a:xfrm>
            <a:off x="7315017" y="1600200"/>
            <a:ext cx="2072579" cy="448056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20" name="icon-bg-478"/>
          <p:cNvSpPr/>
          <p:nvPr/>
        </p:nvSpPr>
        <p:spPr>
          <a:xfrm>
            <a:off x="7985547" y="182880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icon-479" descr="/tmp/claude-0/-home-user/472ad997-b1d8-52e7-b63c-66353a6ff570/scratchpad/deck/assets/icon-gear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8427" y="2011680"/>
            <a:ext cx="365760" cy="365760"/>
          </a:xfrm>
          <a:prstGeom prst="rect">
            <a:avLst/>
          </a:prstGeom>
        </p:spPr>
      </p:pic>
      <p:sp>
        <p:nvSpPr>
          <p:cNvPr id="22" name="text-480"/>
          <p:cNvSpPr txBox="1"/>
          <p:nvPr/>
        </p:nvSpPr>
        <p:spPr>
          <a:xfrm>
            <a:off x="7406457" y="2651760"/>
            <a:ext cx="18896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1600" dirty="0"/>
          </a:p>
        </p:txBody>
      </p:sp>
      <p:sp>
        <p:nvSpPr>
          <p:cNvPr id="23" name="bullets-481"/>
          <p:cNvSpPr txBox="1"/>
          <p:nvPr/>
        </p:nvSpPr>
        <p:spPr>
          <a:xfrm>
            <a:off x="7497897" y="3154680"/>
            <a:ext cx="1752539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Products &amp; thresholds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Zones, perils, pricing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Trigger simulator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Users, payments, payouts</a:t>
            </a:r>
            <a:endParaRPr lang="en-US" sz="1400" dirty="0"/>
          </a:p>
        </p:txBody>
      </p:sp>
      <p:sp>
        <p:nvSpPr>
          <p:cNvPr id="24" name="card-482"/>
          <p:cNvSpPr/>
          <p:nvPr/>
        </p:nvSpPr>
        <p:spPr>
          <a:xfrm>
            <a:off x="9570476" y="1600200"/>
            <a:ext cx="2072579" cy="4480560"/>
          </a:xfrm>
          <a:prstGeom prst="roundRect">
            <a:avLst>
              <a:gd name="adj" fmla="val 5294"/>
            </a:avLst>
          </a:prstGeom>
          <a:solidFill>
            <a:schemeClr val="bg1"/>
          </a:solidFill>
          <a:ln w="12700">
            <a:solidFill>
              <a:srgbClr val="EAD9DF"/>
            </a:solidFill>
            <a:prstDash val="solid"/>
          </a:ln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25" name="icon-bg-483"/>
          <p:cNvSpPr/>
          <p:nvPr/>
        </p:nvSpPr>
        <p:spPr>
          <a:xfrm>
            <a:off x="10241006" y="18288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con-484" descr="/tmp/claude-0/-home-user/472ad997-b1d8-52e7-b63c-66353a6ff570/scratchpad/deck/assets/icon-clock-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3886" y="2011680"/>
            <a:ext cx="365760" cy="365760"/>
          </a:xfrm>
          <a:prstGeom prst="rect">
            <a:avLst/>
          </a:prstGeom>
        </p:spPr>
      </p:pic>
      <p:sp>
        <p:nvSpPr>
          <p:cNvPr id="27" name="text-485"/>
          <p:cNvSpPr txBox="1"/>
          <p:nvPr/>
        </p:nvSpPr>
        <p:spPr>
          <a:xfrm>
            <a:off x="9661916" y="2651760"/>
            <a:ext cx="18896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</a:t>
            </a:r>
            <a:endParaRPr lang="en-US" sz="1600" dirty="0"/>
          </a:p>
        </p:txBody>
      </p:sp>
      <p:sp>
        <p:nvSpPr>
          <p:cNvPr id="28" name="bullets-486"/>
          <p:cNvSpPr txBox="1"/>
          <p:nvPr/>
        </p:nvSpPr>
        <p:spPr>
          <a:xfrm>
            <a:off x="9753356" y="3154680"/>
            <a:ext cx="1752539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Policy expiry &amp; renewal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Payout sweep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Reminders, reconciliation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Demo weather feed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2"/>
                </a:solidFill>
              </a:rPr>
              <a:t>LIVE DEMO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script — one claim, start to finish</a:t>
            </a:r>
            <a:endParaRPr lang="en-US" sz="3200" dirty="0"/>
          </a:p>
        </p:txBody>
      </p:sp>
      <p:sp>
        <p:nvSpPr>
          <p:cNvPr id="4" name="timeline-487"/>
          <p:cNvSpPr/>
          <p:nvPr/>
        </p:nvSpPr>
        <p:spPr>
          <a:xfrm>
            <a:off x="1404595" y="2148840"/>
            <a:ext cx="9382506" cy="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</p:sp>
      <p:sp>
        <p:nvSpPr>
          <p:cNvPr id="5" name="dot-488"/>
          <p:cNvSpPr/>
          <p:nvPr/>
        </p:nvSpPr>
        <p:spPr>
          <a:xfrm>
            <a:off x="1084555" y="1828800"/>
            <a:ext cx="640080" cy="64008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6" name="text-489"/>
          <p:cNvSpPr txBox="1"/>
          <p:nvPr/>
        </p:nvSpPr>
        <p:spPr>
          <a:xfrm>
            <a:off x="1084555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card-490"/>
          <p:cNvSpPr/>
          <p:nvPr/>
        </p:nvSpPr>
        <p:spPr>
          <a:xfrm>
            <a:off x="548640" y="2743200"/>
            <a:ext cx="1711909" cy="2103120"/>
          </a:xfrm>
          <a:prstGeom prst="roundRect">
            <a:avLst>
              <a:gd name="adj" fmla="val 6410"/>
            </a:avLst>
          </a:prstGeom>
          <a:solidFill>
            <a:schemeClr val="bg1"/>
          </a:solidFill>
          <a:ln w="12700">
            <a:solidFill>
              <a:srgbClr val="EAD9DF"/>
            </a:solidFill>
            <a:prstDash val="solid"/>
          </a:ln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8" name="text-491"/>
          <p:cNvSpPr txBox="1"/>
          <p:nvPr/>
        </p:nvSpPr>
        <p:spPr>
          <a:xfrm>
            <a:off x="658368" y="2880360"/>
            <a:ext cx="149245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Customer</a:t>
            </a:r>
            <a:endParaRPr lang="en-US" sz="1400" dirty="0"/>
          </a:p>
        </p:txBody>
      </p:sp>
      <p:sp>
        <p:nvSpPr>
          <p:cNvPr id="9" name="text-492"/>
          <p:cNvSpPr txBox="1"/>
          <p:nvPr/>
        </p:nvSpPr>
        <p:spPr>
          <a:xfrm>
            <a:off x="685800" y="3246120"/>
            <a:ext cx="143758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Ravi applies for WEATHER-001 in Hyderabad Central, ₹1,50,000 cover</a:t>
            </a:r>
            <a:endParaRPr lang="en-US" sz="1450" dirty="0"/>
          </a:p>
        </p:txBody>
      </p:sp>
      <p:sp>
        <p:nvSpPr>
          <p:cNvPr id="10" name="dot-493"/>
          <p:cNvSpPr/>
          <p:nvPr/>
        </p:nvSpPr>
        <p:spPr>
          <a:xfrm>
            <a:off x="2961056" y="1828800"/>
            <a:ext cx="640080" cy="640080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1" name="text-494"/>
          <p:cNvSpPr txBox="1"/>
          <p:nvPr/>
        </p:nvSpPr>
        <p:spPr>
          <a:xfrm>
            <a:off x="2961056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card-495"/>
          <p:cNvSpPr/>
          <p:nvPr/>
        </p:nvSpPr>
        <p:spPr>
          <a:xfrm>
            <a:off x="2425141" y="2743200"/>
            <a:ext cx="1711909" cy="2103120"/>
          </a:xfrm>
          <a:prstGeom prst="roundRect">
            <a:avLst>
              <a:gd name="adj" fmla="val 6410"/>
            </a:avLst>
          </a:prstGeom>
          <a:solidFill>
            <a:schemeClr val="bg1"/>
          </a:solidFill>
          <a:ln w="12700">
            <a:solidFill>
              <a:srgbClr val="EAD9DF"/>
            </a:solidFill>
            <a:prstDash val="solid"/>
          </a:ln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13" name="text-496"/>
          <p:cNvSpPr txBox="1"/>
          <p:nvPr/>
        </p:nvSpPr>
        <p:spPr>
          <a:xfrm>
            <a:off x="2534869" y="2880360"/>
            <a:ext cx="149245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Underwriter</a:t>
            </a:r>
            <a:endParaRPr lang="en-US" sz="1400" dirty="0"/>
          </a:p>
        </p:txBody>
      </p:sp>
      <p:sp>
        <p:nvSpPr>
          <p:cNvPr id="14" name="text-497"/>
          <p:cNvSpPr txBox="1"/>
          <p:nvPr/>
        </p:nvSpPr>
        <p:spPr>
          <a:xfrm>
            <a:off x="2562301" y="3246120"/>
            <a:ext cx="143758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Approves the application — Ravi’s bell updates instantly</a:t>
            </a:r>
            <a:endParaRPr lang="en-US" sz="1450" dirty="0"/>
          </a:p>
        </p:txBody>
      </p:sp>
      <p:sp>
        <p:nvSpPr>
          <p:cNvPr id="15" name="dot-498"/>
          <p:cNvSpPr/>
          <p:nvPr/>
        </p:nvSpPr>
        <p:spPr>
          <a:xfrm>
            <a:off x="4837557" y="1828800"/>
            <a:ext cx="640080" cy="64008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6" name="text-499"/>
          <p:cNvSpPr txBox="1"/>
          <p:nvPr/>
        </p:nvSpPr>
        <p:spPr>
          <a:xfrm>
            <a:off x="4837557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card-500"/>
          <p:cNvSpPr/>
          <p:nvPr/>
        </p:nvSpPr>
        <p:spPr>
          <a:xfrm>
            <a:off x="4301642" y="2743200"/>
            <a:ext cx="1711909" cy="2103120"/>
          </a:xfrm>
          <a:prstGeom prst="roundRect">
            <a:avLst>
              <a:gd name="adj" fmla="val 6410"/>
            </a:avLst>
          </a:prstGeom>
          <a:solidFill>
            <a:schemeClr val="bg1"/>
          </a:solidFill>
          <a:ln w="12700">
            <a:solidFill>
              <a:srgbClr val="EAD9DF"/>
            </a:solidFill>
            <a:prstDash val="solid"/>
          </a:ln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18" name="text-501"/>
          <p:cNvSpPr txBox="1"/>
          <p:nvPr/>
        </p:nvSpPr>
        <p:spPr>
          <a:xfrm>
            <a:off x="4411370" y="2880360"/>
            <a:ext cx="149245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Customer</a:t>
            </a:r>
            <a:endParaRPr lang="en-US" sz="1400" dirty="0"/>
          </a:p>
        </p:txBody>
      </p:sp>
      <p:sp>
        <p:nvSpPr>
          <p:cNvPr id="19" name="text-502"/>
          <p:cNvSpPr txBox="1"/>
          <p:nvPr/>
        </p:nvSpPr>
        <p:spPr>
          <a:xfrm>
            <a:off x="4438802" y="3246120"/>
            <a:ext cx="143758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Pays the premium — the policy is active and covered</a:t>
            </a:r>
            <a:endParaRPr lang="en-US" sz="1450" dirty="0"/>
          </a:p>
        </p:txBody>
      </p:sp>
      <p:sp>
        <p:nvSpPr>
          <p:cNvPr id="20" name="dot-503"/>
          <p:cNvSpPr/>
          <p:nvPr/>
        </p:nvSpPr>
        <p:spPr>
          <a:xfrm>
            <a:off x="6714058" y="1828800"/>
            <a:ext cx="640080" cy="640080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21" name="text-504"/>
          <p:cNvSpPr txBox="1"/>
          <p:nvPr/>
        </p:nvSpPr>
        <p:spPr>
          <a:xfrm>
            <a:off x="6714058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card-505"/>
          <p:cNvSpPr/>
          <p:nvPr/>
        </p:nvSpPr>
        <p:spPr>
          <a:xfrm>
            <a:off x="6178144" y="2743200"/>
            <a:ext cx="1711909" cy="2103120"/>
          </a:xfrm>
          <a:prstGeom prst="roundRect">
            <a:avLst>
              <a:gd name="adj" fmla="val 6410"/>
            </a:avLst>
          </a:prstGeom>
          <a:solidFill>
            <a:schemeClr val="bg1"/>
          </a:solidFill>
          <a:ln w="12700">
            <a:solidFill>
              <a:srgbClr val="EAD9DF"/>
            </a:solidFill>
            <a:prstDash val="solid"/>
          </a:ln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23" name="text-506"/>
          <p:cNvSpPr txBox="1"/>
          <p:nvPr/>
        </p:nvSpPr>
        <p:spPr>
          <a:xfrm>
            <a:off x="6287872" y="2880360"/>
            <a:ext cx="149245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Admin</a:t>
            </a:r>
            <a:endParaRPr lang="en-US" sz="1400" dirty="0"/>
          </a:p>
        </p:txBody>
      </p:sp>
      <p:sp>
        <p:nvSpPr>
          <p:cNvPr id="24" name="text-507"/>
          <p:cNvSpPr txBox="1"/>
          <p:nvPr/>
        </p:nvSpPr>
        <p:spPr>
          <a:xfrm>
            <a:off x="6315304" y="3246120"/>
            <a:ext cx="143758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Simulates 172 mm of rainfall in the Trigger simulator</a:t>
            </a:r>
            <a:endParaRPr lang="en-US" sz="1450" dirty="0"/>
          </a:p>
        </p:txBody>
      </p:sp>
      <p:sp>
        <p:nvSpPr>
          <p:cNvPr id="25" name="dot-508"/>
          <p:cNvSpPr/>
          <p:nvPr/>
        </p:nvSpPr>
        <p:spPr>
          <a:xfrm>
            <a:off x="8590559" y="1828800"/>
            <a:ext cx="640080" cy="64008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26" name="text-509"/>
          <p:cNvSpPr txBox="1"/>
          <p:nvPr/>
        </p:nvSpPr>
        <p:spPr>
          <a:xfrm>
            <a:off x="8590559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card-510"/>
          <p:cNvSpPr/>
          <p:nvPr/>
        </p:nvSpPr>
        <p:spPr>
          <a:xfrm>
            <a:off x="8054645" y="2743200"/>
            <a:ext cx="1711909" cy="2103120"/>
          </a:xfrm>
          <a:prstGeom prst="roundRect">
            <a:avLst>
              <a:gd name="adj" fmla="val 6410"/>
            </a:avLst>
          </a:prstGeom>
          <a:solidFill>
            <a:schemeClr val="bg1"/>
          </a:solidFill>
          <a:ln w="12700">
            <a:solidFill>
              <a:srgbClr val="EAD9DF"/>
            </a:solidFill>
            <a:prstDash val="solid"/>
          </a:ln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28" name="text-511"/>
          <p:cNvSpPr txBox="1"/>
          <p:nvPr/>
        </p:nvSpPr>
        <p:spPr>
          <a:xfrm>
            <a:off x="8164373" y="2880360"/>
            <a:ext cx="149245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System</a:t>
            </a:r>
            <a:endParaRPr lang="en-US" sz="1400" dirty="0"/>
          </a:p>
        </p:txBody>
      </p:sp>
      <p:sp>
        <p:nvSpPr>
          <p:cNvPr id="29" name="text-512"/>
          <p:cNvSpPr txBox="1"/>
          <p:nvPr/>
        </p:nvSpPr>
        <p:spPr>
          <a:xfrm>
            <a:off x="8191805" y="3246120"/>
            <a:ext cx="143758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Automatic claim appears on Ravi’s claims page with no refresh</a:t>
            </a:r>
            <a:endParaRPr lang="en-US" sz="1450" dirty="0"/>
          </a:p>
        </p:txBody>
      </p:sp>
      <p:sp>
        <p:nvSpPr>
          <p:cNvPr id="30" name="dot-513"/>
          <p:cNvSpPr/>
          <p:nvPr/>
        </p:nvSpPr>
        <p:spPr>
          <a:xfrm>
            <a:off x="10467061" y="1828800"/>
            <a:ext cx="640080" cy="640080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31" name="text-514"/>
          <p:cNvSpPr txBox="1"/>
          <p:nvPr/>
        </p:nvSpPr>
        <p:spPr>
          <a:xfrm>
            <a:off x="10467061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card-515"/>
          <p:cNvSpPr/>
          <p:nvPr/>
        </p:nvSpPr>
        <p:spPr>
          <a:xfrm>
            <a:off x="9931146" y="2743200"/>
            <a:ext cx="1711909" cy="2103120"/>
          </a:xfrm>
          <a:prstGeom prst="roundRect">
            <a:avLst>
              <a:gd name="adj" fmla="val 6410"/>
            </a:avLst>
          </a:prstGeom>
          <a:solidFill>
            <a:schemeClr val="bg1"/>
          </a:solidFill>
          <a:ln w="12700">
            <a:solidFill>
              <a:srgbClr val="EAD9DF"/>
            </a:solidFill>
            <a:prstDash val="solid"/>
          </a:ln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33" name="text-516"/>
          <p:cNvSpPr txBox="1"/>
          <p:nvPr/>
        </p:nvSpPr>
        <p:spPr>
          <a:xfrm>
            <a:off x="10040874" y="2880360"/>
            <a:ext cx="149245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Claims officer</a:t>
            </a:r>
            <a:endParaRPr lang="en-US" sz="1400" dirty="0"/>
          </a:p>
        </p:txBody>
      </p:sp>
      <p:sp>
        <p:nvSpPr>
          <p:cNvPr id="34" name="text-517"/>
          <p:cNvSpPr txBox="1"/>
          <p:nvPr/>
        </p:nvSpPr>
        <p:spPr>
          <a:xfrm>
            <a:off x="10068306" y="3246120"/>
            <a:ext cx="143758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Approves ₹1,50,000 — payout paid, claim settled</a:t>
            </a:r>
            <a:endParaRPr lang="en-US" sz="1450" dirty="0"/>
          </a:p>
        </p:txBody>
      </p:sp>
      <p:sp>
        <p:nvSpPr>
          <p:cNvPr id="35" name="card-518"/>
          <p:cNvSpPr/>
          <p:nvPr/>
        </p:nvSpPr>
        <p:spPr>
          <a:xfrm>
            <a:off x="548640" y="5257800"/>
            <a:ext cx="11094415" cy="6858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36" name="text-519"/>
          <p:cNvSpPr txBox="1"/>
          <p:nvPr/>
        </p:nvSpPr>
        <p:spPr>
          <a:xfrm>
            <a:off x="822960" y="5303520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bg1"/>
                </a:solidFill>
              </a:rPr>
              <a:t>About two minutes from rainfall to money in the customer’s account — with every step visible live.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2"/>
                </a:solidFill>
              </a:rPr>
              <a:t>CONCLUSION &amp; FUTURE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delivered, and what comes next</a:t>
            </a:r>
            <a:endParaRPr lang="en-US" sz="3200" dirty="0"/>
          </a:p>
        </p:txBody>
      </p:sp>
      <p:sp>
        <p:nvSpPr>
          <p:cNvPr id="4" name="card-520"/>
          <p:cNvSpPr/>
          <p:nvPr/>
        </p:nvSpPr>
        <p:spPr>
          <a:xfrm>
            <a:off x="548640" y="1554480"/>
            <a:ext cx="5394960" cy="4526280"/>
          </a:xfrm>
          <a:prstGeom prst="roundRect">
            <a:avLst>
              <a:gd name="adj" fmla="val 2424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sp>
        <p:nvSpPr>
          <p:cNvPr id="5" name="text-521"/>
          <p:cNvSpPr txBox="1"/>
          <p:nvPr/>
        </p:nvSpPr>
        <p:spPr>
          <a:xfrm>
            <a:off x="868680" y="1737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Delivered</a:t>
            </a:r>
            <a:endParaRPr lang="en-US" sz="2000" dirty="0"/>
          </a:p>
        </p:txBody>
      </p:sp>
      <p:pic>
        <p:nvPicPr>
          <p:cNvPr id="6" name="tick-522" descr="/tmp/claude-0/-home-user/472ad997-b1d8-52e7-b63c-66353a6ff570/scratchpad/deck/assets/icon-check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77440"/>
            <a:ext cx="292608" cy="292608"/>
          </a:xfrm>
          <a:prstGeom prst="rect">
            <a:avLst/>
          </a:prstGeom>
        </p:spPr>
      </p:pic>
      <p:sp>
        <p:nvSpPr>
          <p:cNvPr id="7" name="text-523"/>
          <p:cNvSpPr txBox="1"/>
          <p:nvPr/>
        </p:nvSpPr>
        <p:spPr>
          <a:xfrm>
            <a:off x="1325880" y="233172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</a:rPr>
              <a:t>End-to-end parametric flow: product → policy → trigger → claim → payout</a:t>
            </a:r>
            <a:endParaRPr lang="en-US" sz="1350" dirty="0"/>
          </a:p>
        </p:txBody>
      </p:sp>
      <p:pic>
        <p:nvPicPr>
          <p:cNvPr id="8" name="tick-524" descr="/tmp/claude-0/-home-user/472ad997-b1d8-52e7-b63c-66353a6ff570/scratchpad/deck/assets/icon-check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108960"/>
            <a:ext cx="292608" cy="292608"/>
          </a:xfrm>
          <a:prstGeom prst="rect">
            <a:avLst/>
          </a:prstGeom>
        </p:spPr>
      </p:pic>
      <p:sp>
        <p:nvSpPr>
          <p:cNvPr id="9" name="text-525"/>
          <p:cNvSpPr txBox="1"/>
          <p:nvPr/>
        </p:nvSpPr>
        <p:spPr>
          <a:xfrm>
            <a:off x="1325880" y="306324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</a:rPr>
              <a:t>Six reactive microservices behind a secured gateway</a:t>
            </a:r>
            <a:endParaRPr lang="en-US" sz="1350" dirty="0"/>
          </a:p>
        </p:txBody>
      </p:sp>
      <p:pic>
        <p:nvPicPr>
          <p:cNvPr id="10" name="tick-526" descr="/tmp/claude-0/-home-user/472ad997-b1d8-52e7-b63c-66353a6ff570/scratchpad/deck/assets/icon-check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840480"/>
            <a:ext cx="292608" cy="292608"/>
          </a:xfrm>
          <a:prstGeom prst="rect">
            <a:avLst/>
          </a:prstGeom>
        </p:spPr>
      </p:pic>
      <p:sp>
        <p:nvSpPr>
          <p:cNvPr id="11" name="text-527"/>
          <p:cNvSpPr txBox="1"/>
          <p:nvPr/>
        </p:nvSpPr>
        <p:spPr>
          <a:xfrm>
            <a:off x="1325880" y="379476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</a:rPr>
              <a:t>Role-based Angular app with live notifications</a:t>
            </a:r>
            <a:endParaRPr lang="en-US" sz="1350" dirty="0"/>
          </a:p>
        </p:txBody>
      </p:sp>
      <p:pic>
        <p:nvPicPr>
          <p:cNvPr id="12" name="tick-528" descr="/tmp/claude-0/-home-user/472ad997-b1d8-52e7-b63c-66353a6ff570/scratchpad/deck/assets/icon-check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572000"/>
            <a:ext cx="292608" cy="292608"/>
          </a:xfrm>
          <a:prstGeom prst="rect">
            <a:avLst/>
          </a:prstGeom>
        </p:spPr>
      </p:pic>
      <p:sp>
        <p:nvSpPr>
          <p:cNvPr id="13" name="text-529"/>
          <p:cNvSpPr txBox="1"/>
          <p:nvPr/>
        </p:nvSpPr>
        <p:spPr>
          <a:xfrm>
            <a:off x="1325880" y="452628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</a:rPr>
              <a:t>870 automated tests, 79–98% backend line coverage</a:t>
            </a:r>
            <a:endParaRPr lang="en-US" sz="1350" dirty="0"/>
          </a:p>
        </p:txBody>
      </p:sp>
      <p:pic>
        <p:nvPicPr>
          <p:cNvPr id="14" name="tick-530" descr="/tmp/claude-0/-home-user/472ad997-b1d8-52e7-b63c-66353a6ff570/scratchpad/deck/assets/icon-check-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303520"/>
            <a:ext cx="292608" cy="292608"/>
          </a:xfrm>
          <a:prstGeom prst="rect">
            <a:avLst/>
          </a:prstGeom>
        </p:spPr>
      </p:pic>
      <p:sp>
        <p:nvSpPr>
          <p:cNvPr id="15" name="text-531"/>
          <p:cNvSpPr txBox="1"/>
          <p:nvPr/>
        </p:nvSpPr>
        <p:spPr>
          <a:xfrm>
            <a:off x="1325880" y="525780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</a:rPr>
              <a:t>Simple by design: in-app notifications, instant payments and payouts</a:t>
            </a:r>
            <a:endParaRPr lang="en-US" sz="1350" dirty="0"/>
          </a:p>
        </p:txBody>
      </p:sp>
      <p:sp>
        <p:nvSpPr>
          <p:cNvPr id="16" name="text-532"/>
          <p:cNvSpPr txBox="1"/>
          <p:nvPr/>
        </p:nvSpPr>
        <p:spPr>
          <a:xfrm>
            <a:off x="6263640" y="1554480"/>
            <a:ext cx="5379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2000" dirty="0"/>
          </a:p>
        </p:txBody>
      </p:sp>
      <p:sp>
        <p:nvSpPr>
          <p:cNvPr id="17" name="icon-bg-533"/>
          <p:cNvSpPr/>
          <p:nvPr/>
        </p:nvSpPr>
        <p:spPr>
          <a:xfrm>
            <a:off x="6263640" y="20574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con-534" descr="/tmp/claude-0/-home-user/472ad997-b1d8-52e7-b63c-66353a6ff570/scratchpad/deck/assets/icon-satellite-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9370" y="2183130"/>
            <a:ext cx="251460" cy="251460"/>
          </a:xfrm>
          <a:prstGeom prst="rect">
            <a:avLst/>
          </a:prstGeom>
        </p:spPr>
      </p:pic>
      <p:sp>
        <p:nvSpPr>
          <p:cNvPr id="19" name="text-535"/>
          <p:cNvSpPr txBox="1"/>
          <p:nvPr/>
        </p:nvSpPr>
        <p:spPr>
          <a:xfrm>
            <a:off x="6922008" y="2029968"/>
            <a:ext cx="4693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Real weather &amp; IoT data feeds</a:t>
            </a:r>
            <a:endParaRPr lang="en-US" sz="1400" dirty="0"/>
          </a:p>
        </p:txBody>
      </p:sp>
      <p:sp>
        <p:nvSpPr>
          <p:cNvPr id="20" name="text-536"/>
          <p:cNvSpPr txBox="1"/>
          <p:nvPr/>
        </p:nvSpPr>
        <p:spPr>
          <a:xfrm>
            <a:off x="6922008" y="2304288"/>
            <a:ext cx="4693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Live sensor and weather-API readings instead of the demo feed</a:t>
            </a:r>
            <a:endParaRPr lang="en-US" sz="1150" dirty="0"/>
          </a:p>
        </p:txBody>
      </p:sp>
      <p:sp>
        <p:nvSpPr>
          <p:cNvPr id="21" name="icon-bg-537"/>
          <p:cNvSpPr/>
          <p:nvPr/>
        </p:nvSpPr>
        <p:spPr>
          <a:xfrm>
            <a:off x="6263640" y="2724912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2" name="icon-538" descr="/tmp/claude-0/-home-user/472ad997-b1d8-52e7-b63c-66353a6ff570/scratchpad/deck/assets/icon-wallet-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9370" y="2850642"/>
            <a:ext cx="251460" cy="251460"/>
          </a:xfrm>
          <a:prstGeom prst="rect">
            <a:avLst/>
          </a:prstGeom>
        </p:spPr>
      </p:pic>
      <p:sp>
        <p:nvSpPr>
          <p:cNvPr id="23" name="text-539"/>
          <p:cNvSpPr txBox="1"/>
          <p:nvPr/>
        </p:nvSpPr>
        <p:spPr>
          <a:xfrm>
            <a:off x="6922008" y="2697480"/>
            <a:ext cx="4693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Real payments &amp; UPI payouts</a:t>
            </a:r>
            <a:endParaRPr lang="en-US" sz="1400" dirty="0"/>
          </a:p>
        </p:txBody>
      </p:sp>
      <p:sp>
        <p:nvSpPr>
          <p:cNvPr id="24" name="text-540"/>
          <p:cNvSpPr txBox="1"/>
          <p:nvPr/>
        </p:nvSpPr>
        <p:spPr>
          <a:xfrm>
            <a:off x="6922008" y="2971800"/>
            <a:ext cx="4693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Payment gateway and bank / UPI disbursement</a:t>
            </a:r>
            <a:endParaRPr lang="en-US" sz="1150" dirty="0"/>
          </a:p>
        </p:txBody>
      </p:sp>
      <p:sp>
        <p:nvSpPr>
          <p:cNvPr id="25" name="icon-bg-541"/>
          <p:cNvSpPr/>
          <p:nvPr/>
        </p:nvSpPr>
        <p:spPr>
          <a:xfrm>
            <a:off x="6263640" y="3392424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con-542" descr="/tmp/claude-0/-home-user/472ad997-b1d8-52e7-b63c-66353a6ff570/scratchpad/deck/assets/icon-plug-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9370" y="3518154"/>
            <a:ext cx="251460" cy="251460"/>
          </a:xfrm>
          <a:prstGeom prst="rect">
            <a:avLst/>
          </a:prstGeom>
        </p:spPr>
      </p:pic>
      <p:sp>
        <p:nvSpPr>
          <p:cNvPr id="27" name="text-543"/>
          <p:cNvSpPr txBox="1"/>
          <p:nvPr/>
        </p:nvSpPr>
        <p:spPr>
          <a:xfrm>
            <a:off x="6922008" y="3364992"/>
            <a:ext cx="4693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Event streaming with Kafka</a:t>
            </a:r>
            <a:endParaRPr lang="en-US" sz="1400" dirty="0"/>
          </a:p>
        </p:txBody>
      </p:sp>
      <p:sp>
        <p:nvSpPr>
          <p:cNvPr id="28" name="text-544"/>
          <p:cNvSpPr txBox="1"/>
          <p:nvPr/>
        </p:nvSpPr>
        <p:spPr>
          <a:xfrm>
            <a:off x="6922008" y="3639312"/>
            <a:ext cx="4693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Asynchronous events between services</a:t>
            </a:r>
            <a:endParaRPr lang="en-US" sz="1150" dirty="0"/>
          </a:p>
        </p:txBody>
      </p:sp>
      <p:sp>
        <p:nvSpPr>
          <p:cNvPr id="29" name="icon-bg-545"/>
          <p:cNvSpPr/>
          <p:nvPr/>
        </p:nvSpPr>
        <p:spPr>
          <a:xfrm>
            <a:off x="6263640" y="4059936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0" name="icon-546" descr="/tmp/claude-0/-home-user/472ad997-b1d8-52e7-b63c-66353a6ff570/scratchpad/deck/assets/icon-cube-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9370" y="4185666"/>
            <a:ext cx="251460" cy="251460"/>
          </a:xfrm>
          <a:prstGeom prst="rect">
            <a:avLst/>
          </a:prstGeom>
        </p:spPr>
      </p:pic>
      <p:sp>
        <p:nvSpPr>
          <p:cNvPr id="31" name="text-547"/>
          <p:cNvSpPr txBox="1"/>
          <p:nvPr/>
        </p:nvSpPr>
        <p:spPr>
          <a:xfrm>
            <a:off x="6922008" y="4032504"/>
            <a:ext cx="4693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PostgreSQL, Docker &amp; Kubernetes</a:t>
            </a:r>
            <a:endParaRPr lang="en-US" sz="1400" dirty="0"/>
          </a:p>
        </p:txBody>
      </p:sp>
      <p:sp>
        <p:nvSpPr>
          <p:cNvPr id="32" name="text-548"/>
          <p:cNvSpPr txBox="1"/>
          <p:nvPr/>
        </p:nvSpPr>
        <p:spPr>
          <a:xfrm>
            <a:off x="6922008" y="4306824"/>
            <a:ext cx="4693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Production database and container deployment</a:t>
            </a:r>
            <a:endParaRPr lang="en-US" sz="1150" dirty="0"/>
          </a:p>
        </p:txBody>
      </p:sp>
      <p:sp>
        <p:nvSpPr>
          <p:cNvPr id="33" name="icon-bg-549"/>
          <p:cNvSpPr/>
          <p:nvPr/>
        </p:nvSpPr>
        <p:spPr>
          <a:xfrm>
            <a:off x="6263640" y="472744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4" name="icon-550" descr="/tmp/claude-0/-home-user/472ad997-b1d8-52e7-b63c-66353a6ff570/scratchpad/deck/assets/icon-chart-w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9370" y="4853178"/>
            <a:ext cx="251460" cy="251460"/>
          </a:xfrm>
          <a:prstGeom prst="rect">
            <a:avLst/>
          </a:prstGeom>
        </p:spPr>
      </p:pic>
      <p:sp>
        <p:nvSpPr>
          <p:cNvPr id="35" name="text-551"/>
          <p:cNvSpPr txBox="1"/>
          <p:nvPr/>
        </p:nvSpPr>
        <p:spPr>
          <a:xfrm>
            <a:off x="6922008" y="4700016"/>
            <a:ext cx="4693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Tracing &amp; dashboards</a:t>
            </a:r>
            <a:endParaRPr lang="en-US" sz="1400" dirty="0"/>
          </a:p>
        </p:txBody>
      </p:sp>
      <p:sp>
        <p:nvSpPr>
          <p:cNvPr id="36" name="text-552"/>
          <p:cNvSpPr txBox="1"/>
          <p:nvPr/>
        </p:nvSpPr>
        <p:spPr>
          <a:xfrm>
            <a:off x="6922008" y="4974336"/>
            <a:ext cx="4693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OpenTelemetry, Prometheus and Grafana</a:t>
            </a:r>
            <a:endParaRPr lang="en-US" sz="1150" dirty="0"/>
          </a:p>
        </p:txBody>
      </p:sp>
      <p:sp>
        <p:nvSpPr>
          <p:cNvPr id="37" name="icon-bg-553"/>
          <p:cNvSpPr/>
          <p:nvPr/>
        </p:nvSpPr>
        <p:spPr>
          <a:xfrm>
            <a:off x="6263640" y="53949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8" name="icon-554" descr="/tmp/claude-0/-home-user/472ad997-b1d8-52e7-b63c-66353a6ff570/scratchpad/deck/assets/icon-robot-w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89370" y="5520690"/>
            <a:ext cx="251460" cy="251460"/>
          </a:xfrm>
          <a:prstGeom prst="rect">
            <a:avLst/>
          </a:prstGeom>
        </p:spPr>
      </p:pic>
      <p:sp>
        <p:nvSpPr>
          <p:cNvPr id="39" name="text-555"/>
          <p:cNvSpPr txBox="1"/>
          <p:nvPr/>
        </p:nvSpPr>
        <p:spPr>
          <a:xfrm>
            <a:off x="6922008" y="5367528"/>
            <a:ext cx="4693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Risk-based pricing &amp; mobile app</a:t>
            </a:r>
            <a:endParaRPr lang="en-US" sz="1400" dirty="0"/>
          </a:p>
        </p:txBody>
      </p:sp>
      <p:sp>
        <p:nvSpPr>
          <p:cNvPr id="40" name="text-556"/>
          <p:cNvSpPr txBox="1"/>
          <p:nvPr/>
        </p:nvSpPr>
        <p:spPr>
          <a:xfrm>
            <a:off x="6922008" y="5641848"/>
            <a:ext cx="4693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ML premiums from historical weather; mobile alerts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2"/>
                </a:solidFill>
              </a:rPr>
              <a:t>PRODUCT SCREENSHOTS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experience</a:t>
            </a:r>
            <a:endParaRPr lang="en-US" sz="3200" dirty="0"/>
          </a:p>
        </p:txBody>
      </p:sp>
      <p:sp>
        <p:nvSpPr>
          <p:cNvPr id="4" name="card-557"/>
          <p:cNvSpPr/>
          <p:nvPr/>
        </p:nvSpPr>
        <p:spPr>
          <a:xfrm>
            <a:off x="521208" y="1572768"/>
            <a:ext cx="5541264" cy="3180969"/>
          </a:xfrm>
          <a:prstGeom prst="roundRect">
            <a:avLst>
              <a:gd name="adj" fmla="val 287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pic>
        <p:nvPicPr>
          <p:cNvPr id="5" name="shot-558" descr="/tmp/claude-0/-home-user/472ad997-b1d8-52e7-b63c-66353a6ff570/scratchpad/deck/shots/welc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45920"/>
            <a:ext cx="5394960" cy="3034665"/>
          </a:xfrm>
          <a:prstGeom prst="rect">
            <a:avLst/>
          </a:prstGeom>
        </p:spPr>
      </p:pic>
      <p:sp>
        <p:nvSpPr>
          <p:cNvPr id="6" name="icon-bg-559"/>
          <p:cNvSpPr/>
          <p:nvPr/>
        </p:nvSpPr>
        <p:spPr>
          <a:xfrm>
            <a:off x="594360" y="5000625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-560" descr="/tmp/claude-0/-home-user/472ad997-b1d8-52e7-b63c-66353a6ff570/scratchpad/deck/assets/icon-eye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5114925"/>
            <a:ext cx="228600" cy="228600"/>
          </a:xfrm>
          <a:prstGeom prst="rect">
            <a:avLst/>
          </a:prstGeom>
        </p:spPr>
      </p:pic>
      <p:sp>
        <p:nvSpPr>
          <p:cNvPr id="8" name="text-561"/>
          <p:cNvSpPr txBox="1"/>
          <p:nvPr/>
        </p:nvSpPr>
        <p:spPr>
          <a:xfrm>
            <a:off x="1188720" y="4973193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Public landing page</a:t>
            </a:r>
            <a:endParaRPr lang="en-US" sz="1500" dirty="0"/>
          </a:p>
        </p:txBody>
      </p:sp>
      <p:sp>
        <p:nvSpPr>
          <p:cNvPr id="9" name="text-562"/>
          <p:cNvSpPr txBox="1"/>
          <p:nvPr/>
        </p:nvSpPr>
        <p:spPr>
          <a:xfrm>
            <a:off x="1188720" y="5274945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Explains parametric cover in one screen and leads visitors to products and sign-up</a:t>
            </a:r>
            <a:endParaRPr lang="en-US" sz="1250" dirty="0"/>
          </a:p>
        </p:txBody>
      </p:sp>
      <p:sp>
        <p:nvSpPr>
          <p:cNvPr id="10" name="card-563"/>
          <p:cNvSpPr/>
          <p:nvPr/>
        </p:nvSpPr>
        <p:spPr>
          <a:xfrm>
            <a:off x="6129223" y="1572768"/>
            <a:ext cx="5541264" cy="3180969"/>
          </a:xfrm>
          <a:prstGeom prst="roundRect">
            <a:avLst>
              <a:gd name="adj" fmla="val 287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pic>
        <p:nvPicPr>
          <p:cNvPr id="11" name="shot-564" descr="/tmp/claude-0/-home-user/472ad997-b1d8-52e7-b63c-66353a6ff570/scratchpad/deck/shots/customer-notificatio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2375" y="1645920"/>
            <a:ext cx="5394960" cy="3034665"/>
          </a:xfrm>
          <a:prstGeom prst="rect">
            <a:avLst/>
          </a:prstGeom>
        </p:spPr>
      </p:pic>
      <p:sp>
        <p:nvSpPr>
          <p:cNvPr id="12" name="icon-bg-565"/>
          <p:cNvSpPr/>
          <p:nvPr/>
        </p:nvSpPr>
        <p:spPr>
          <a:xfrm>
            <a:off x="6202375" y="5000625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con-566" descr="/tmp/claude-0/-home-user/472ad997-b1d8-52e7-b63c-66353a6ff570/scratchpad/deck/assets/icon-star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6675" y="5114925"/>
            <a:ext cx="228600" cy="228600"/>
          </a:xfrm>
          <a:prstGeom prst="rect">
            <a:avLst/>
          </a:prstGeom>
        </p:spPr>
      </p:pic>
      <p:sp>
        <p:nvSpPr>
          <p:cNvPr id="14" name="text-567"/>
          <p:cNvSpPr txBox="1"/>
          <p:nvPr/>
        </p:nvSpPr>
        <p:spPr>
          <a:xfrm>
            <a:off x="6796735" y="4973193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Customer dashboard with live notifications</a:t>
            </a:r>
            <a:endParaRPr lang="en-US" sz="1500" dirty="0"/>
          </a:p>
        </p:txBody>
      </p:sp>
      <p:sp>
        <p:nvSpPr>
          <p:cNvPr id="15" name="text-568"/>
          <p:cNvSpPr txBox="1"/>
          <p:nvPr/>
        </p:nvSpPr>
        <p:spPr>
          <a:xfrm>
            <a:off x="6796735" y="5274945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Policies, cover, premiums and payouts at a glance; every step arrives in the bell instantly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2"/>
                </a:solidFill>
              </a:rPr>
              <a:t>PRODUCT SCREENSHOTS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Claims tracked in real time</a:t>
            </a:r>
            <a:endParaRPr lang="en-US" sz="3200" dirty="0"/>
          </a:p>
        </p:txBody>
      </p:sp>
      <p:sp>
        <p:nvSpPr>
          <p:cNvPr id="4" name="card-569"/>
          <p:cNvSpPr/>
          <p:nvPr/>
        </p:nvSpPr>
        <p:spPr>
          <a:xfrm>
            <a:off x="521208" y="1572768"/>
            <a:ext cx="5541264" cy="3180969"/>
          </a:xfrm>
          <a:prstGeom prst="roundRect">
            <a:avLst>
              <a:gd name="adj" fmla="val 287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pic>
        <p:nvPicPr>
          <p:cNvPr id="5" name="shot-570" descr="/tmp/claude-0/-home-user/472ad997-b1d8-52e7-b63c-66353a6ff570/scratchpad/deck/shots/customer-clai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45920"/>
            <a:ext cx="5394960" cy="3034665"/>
          </a:xfrm>
          <a:prstGeom prst="rect">
            <a:avLst/>
          </a:prstGeom>
        </p:spPr>
      </p:pic>
      <p:sp>
        <p:nvSpPr>
          <p:cNvPr id="6" name="icon-bg-571"/>
          <p:cNvSpPr/>
          <p:nvPr/>
        </p:nvSpPr>
        <p:spPr>
          <a:xfrm>
            <a:off x="594360" y="5000625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-572" descr="/tmp/claude-0/-home-user/472ad997-b1d8-52e7-b63c-66353a6ff570/scratchpad/deck/assets/icon-eye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5114925"/>
            <a:ext cx="228600" cy="228600"/>
          </a:xfrm>
          <a:prstGeom prst="rect">
            <a:avLst/>
          </a:prstGeom>
        </p:spPr>
      </p:pic>
      <p:sp>
        <p:nvSpPr>
          <p:cNvPr id="8" name="text-573"/>
          <p:cNvSpPr txBox="1"/>
          <p:nvPr/>
        </p:nvSpPr>
        <p:spPr>
          <a:xfrm>
            <a:off x="1188720" y="4973193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My claims</a:t>
            </a:r>
            <a:endParaRPr lang="en-US" sz="1500" dirty="0"/>
          </a:p>
        </p:txBody>
      </p:sp>
      <p:sp>
        <p:nvSpPr>
          <p:cNvPr id="9" name="text-574"/>
          <p:cNvSpPr txBox="1"/>
          <p:nvPr/>
        </p:nvSpPr>
        <p:spPr>
          <a:xfrm>
            <a:off x="1188720" y="5274945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The automatic claim is settled and paid; a manual claim waits for review — the list updates live</a:t>
            </a:r>
            <a:endParaRPr lang="en-US" sz="1250" dirty="0"/>
          </a:p>
        </p:txBody>
      </p:sp>
      <p:sp>
        <p:nvSpPr>
          <p:cNvPr id="10" name="card-575"/>
          <p:cNvSpPr/>
          <p:nvPr/>
        </p:nvSpPr>
        <p:spPr>
          <a:xfrm>
            <a:off x="6129223" y="1572768"/>
            <a:ext cx="5541264" cy="3180969"/>
          </a:xfrm>
          <a:prstGeom prst="roundRect">
            <a:avLst>
              <a:gd name="adj" fmla="val 287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pic>
        <p:nvPicPr>
          <p:cNvPr id="11" name="shot-576" descr="/tmp/claude-0/-home-user/472ad997-b1d8-52e7-b63c-66353a6ff570/scratchpad/deck/shots/customer-polici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2375" y="1645920"/>
            <a:ext cx="5394960" cy="3034665"/>
          </a:xfrm>
          <a:prstGeom prst="rect">
            <a:avLst/>
          </a:prstGeom>
        </p:spPr>
      </p:pic>
      <p:sp>
        <p:nvSpPr>
          <p:cNvPr id="12" name="icon-bg-577"/>
          <p:cNvSpPr/>
          <p:nvPr/>
        </p:nvSpPr>
        <p:spPr>
          <a:xfrm>
            <a:off x="6202375" y="5000625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con-578" descr="/tmp/claude-0/-home-user/472ad997-b1d8-52e7-b63c-66353a6ff570/scratchpad/deck/assets/icon-star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6675" y="5114925"/>
            <a:ext cx="228600" cy="228600"/>
          </a:xfrm>
          <a:prstGeom prst="rect">
            <a:avLst/>
          </a:prstGeom>
        </p:spPr>
      </p:pic>
      <p:sp>
        <p:nvSpPr>
          <p:cNvPr id="14" name="text-579"/>
          <p:cNvSpPr txBox="1"/>
          <p:nvPr/>
        </p:nvSpPr>
        <p:spPr>
          <a:xfrm>
            <a:off x="6796735" y="4973193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My policies</a:t>
            </a:r>
            <a:endParaRPr lang="en-US" sz="1500" dirty="0"/>
          </a:p>
        </p:txBody>
      </p:sp>
      <p:sp>
        <p:nvSpPr>
          <p:cNvPr id="15" name="text-580"/>
          <p:cNvSpPr txBox="1"/>
          <p:nvPr/>
        </p:nvSpPr>
        <p:spPr>
          <a:xfrm>
            <a:off x="6796735" y="5274945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Active and pending policies, each with its trigger locked in when it was bought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2"/>
                </a:solidFill>
              </a:rPr>
              <a:t>PRODUCT SCREENSHOTS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console</a:t>
            </a:r>
            <a:endParaRPr lang="en-US" sz="3200" dirty="0"/>
          </a:p>
        </p:txBody>
      </p:sp>
      <p:sp>
        <p:nvSpPr>
          <p:cNvPr id="4" name="card-581"/>
          <p:cNvSpPr/>
          <p:nvPr/>
        </p:nvSpPr>
        <p:spPr>
          <a:xfrm>
            <a:off x="521208" y="1572768"/>
            <a:ext cx="5541264" cy="3180969"/>
          </a:xfrm>
          <a:prstGeom prst="roundRect">
            <a:avLst>
              <a:gd name="adj" fmla="val 287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pic>
        <p:nvPicPr>
          <p:cNvPr id="5" name="shot-582" descr="/tmp/claude-0/-home-user/472ad997-b1d8-52e7-b63c-66353a6ff570/scratchpad/deck/shots/admin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45920"/>
            <a:ext cx="5394960" cy="3034665"/>
          </a:xfrm>
          <a:prstGeom prst="rect">
            <a:avLst/>
          </a:prstGeom>
        </p:spPr>
      </p:pic>
      <p:sp>
        <p:nvSpPr>
          <p:cNvPr id="6" name="icon-bg-583"/>
          <p:cNvSpPr/>
          <p:nvPr/>
        </p:nvSpPr>
        <p:spPr>
          <a:xfrm>
            <a:off x="594360" y="5000625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-584" descr="/tmp/claude-0/-home-user/472ad997-b1d8-52e7-b63c-66353a6ff570/scratchpad/deck/assets/icon-eye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5114925"/>
            <a:ext cx="228600" cy="228600"/>
          </a:xfrm>
          <a:prstGeom prst="rect">
            <a:avLst/>
          </a:prstGeom>
        </p:spPr>
      </p:pic>
      <p:sp>
        <p:nvSpPr>
          <p:cNvPr id="8" name="text-585"/>
          <p:cNvSpPr txBox="1"/>
          <p:nvPr/>
        </p:nvSpPr>
        <p:spPr>
          <a:xfrm>
            <a:off x="1188720" y="4973193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Admin dashboard</a:t>
            </a:r>
            <a:endParaRPr lang="en-US" sz="1500" dirty="0"/>
          </a:p>
        </p:txBody>
      </p:sp>
      <p:sp>
        <p:nvSpPr>
          <p:cNvPr id="9" name="text-586"/>
          <p:cNvSpPr txBox="1"/>
          <p:nvPr/>
        </p:nvSpPr>
        <p:spPr>
          <a:xfrm>
            <a:off x="1188720" y="5274945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Platform KPIs and one-click access to products, pricing, payments, payouts and users</a:t>
            </a:r>
            <a:endParaRPr lang="en-US" sz="1250" dirty="0"/>
          </a:p>
        </p:txBody>
      </p:sp>
      <p:sp>
        <p:nvSpPr>
          <p:cNvPr id="10" name="card-587"/>
          <p:cNvSpPr/>
          <p:nvPr/>
        </p:nvSpPr>
        <p:spPr>
          <a:xfrm>
            <a:off x="6129223" y="1572768"/>
            <a:ext cx="5541264" cy="3180969"/>
          </a:xfrm>
          <a:prstGeom prst="roundRect">
            <a:avLst>
              <a:gd name="adj" fmla="val 287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pic>
        <p:nvPicPr>
          <p:cNvPr id="11" name="shot-588" descr="/tmp/claude-0/-home-user/472ad997-b1d8-52e7-b63c-66353a6ff570/scratchpad/deck/shots/admin-simulat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2375" y="1645920"/>
            <a:ext cx="5394960" cy="3034665"/>
          </a:xfrm>
          <a:prstGeom prst="rect">
            <a:avLst/>
          </a:prstGeom>
        </p:spPr>
      </p:pic>
      <p:sp>
        <p:nvSpPr>
          <p:cNvPr id="12" name="icon-bg-589"/>
          <p:cNvSpPr/>
          <p:nvPr/>
        </p:nvSpPr>
        <p:spPr>
          <a:xfrm>
            <a:off x="6202375" y="5000625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con-590" descr="/tmp/claude-0/-home-user/472ad997-b1d8-52e7-b63c-66353a6ff570/scratchpad/deck/assets/icon-star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6675" y="5114925"/>
            <a:ext cx="228600" cy="228600"/>
          </a:xfrm>
          <a:prstGeom prst="rect">
            <a:avLst/>
          </a:prstGeom>
        </p:spPr>
      </p:pic>
      <p:sp>
        <p:nvSpPr>
          <p:cNvPr id="14" name="text-591"/>
          <p:cNvSpPr txBox="1"/>
          <p:nvPr/>
        </p:nvSpPr>
        <p:spPr>
          <a:xfrm>
            <a:off x="6796735" y="4973193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Trigger simulator</a:t>
            </a:r>
            <a:endParaRPr lang="en-US" sz="1500" dirty="0"/>
          </a:p>
        </p:txBody>
      </p:sp>
      <p:sp>
        <p:nvSpPr>
          <p:cNvPr id="15" name="text-592"/>
          <p:cNvSpPr txBox="1"/>
          <p:nvPr/>
        </p:nvSpPr>
        <p:spPr>
          <a:xfrm>
            <a:off x="6796735" y="5274945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Record a reading for a product and zone — matching paid policies get automatic claims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2"/>
                </a:solidFill>
              </a:rPr>
              <a:t>PRODUCT SCREENSHOTS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 workspaces</a:t>
            </a:r>
            <a:endParaRPr lang="en-US" sz="3200" dirty="0"/>
          </a:p>
        </p:txBody>
      </p:sp>
      <p:sp>
        <p:nvSpPr>
          <p:cNvPr id="4" name="card-593"/>
          <p:cNvSpPr/>
          <p:nvPr/>
        </p:nvSpPr>
        <p:spPr>
          <a:xfrm>
            <a:off x="521208" y="1572768"/>
            <a:ext cx="5541264" cy="3180969"/>
          </a:xfrm>
          <a:prstGeom prst="roundRect">
            <a:avLst>
              <a:gd name="adj" fmla="val 287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pic>
        <p:nvPicPr>
          <p:cNvPr id="5" name="shot-594" descr="/tmp/claude-0/-home-user/472ad997-b1d8-52e7-b63c-66353a6ff570/scratchpad/deck/shots/underwriter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45920"/>
            <a:ext cx="5394960" cy="3034665"/>
          </a:xfrm>
          <a:prstGeom prst="rect">
            <a:avLst/>
          </a:prstGeom>
        </p:spPr>
      </p:pic>
      <p:sp>
        <p:nvSpPr>
          <p:cNvPr id="6" name="icon-bg-595"/>
          <p:cNvSpPr/>
          <p:nvPr/>
        </p:nvSpPr>
        <p:spPr>
          <a:xfrm>
            <a:off x="594360" y="5000625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-596" descr="/tmp/claude-0/-home-user/472ad997-b1d8-52e7-b63c-66353a6ff570/scratchpad/deck/assets/icon-eye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5114925"/>
            <a:ext cx="228600" cy="228600"/>
          </a:xfrm>
          <a:prstGeom prst="rect">
            <a:avLst/>
          </a:prstGeom>
        </p:spPr>
      </p:pic>
      <p:sp>
        <p:nvSpPr>
          <p:cNvPr id="8" name="text-597"/>
          <p:cNvSpPr txBox="1"/>
          <p:nvPr/>
        </p:nvSpPr>
        <p:spPr>
          <a:xfrm>
            <a:off x="1188720" y="4973193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Underwriting workspace</a:t>
            </a:r>
            <a:endParaRPr lang="en-US" sz="1500" dirty="0"/>
          </a:p>
        </p:txBody>
      </p:sp>
      <p:sp>
        <p:nvSpPr>
          <p:cNvPr id="9" name="text-598"/>
          <p:cNvSpPr txBox="1"/>
          <p:nvPr/>
        </p:nvSpPr>
        <p:spPr>
          <a:xfrm>
            <a:off x="1188720" y="5274945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Pending applications, premium in force and approval rate, with the review queue</a:t>
            </a:r>
            <a:endParaRPr lang="en-US" sz="1250" dirty="0"/>
          </a:p>
        </p:txBody>
      </p:sp>
      <p:sp>
        <p:nvSpPr>
          <p:cNvPr id="10" name="card-599"/>
          <p:cNvSpPr/>
          <p:nvPr/>
        </p:nvSpPr>
        <p:spPr>
          <a:xfrm>
            <a:off x="6129223" y="1572768"/>
            <a:ext cx="5541264" cy="3180969"/>
          </a:xfrm>
          <a:prstGeom prst="roundRect">
            <a:avLst>
              <a:gd name="adj" fmla="val 287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3A0A1A">
                <a:alpha val="14000"/>
              </a:srgbClr>
            </a:outerShdw>
          </a:effectLst>
        </p:spPr>
      </p:sp>
      <p:pic>
        <p:nvPicPr>
          <p:cNvPr id="11" name="shot-600" descr="/tmp/claude-0/-home-user/472ad997-b1d8-52e7-b63c-66353a6ff570/scratchpad/deck/shots/officer-dash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2375" y="1645920"/>
            <a:ext cx="5394960" cy="3034665"/>
          </a:xfrm>
          <a:prstGeom prst="rect">
            <a:avLst/>
          </a:prstGeom>
        </p:spPr>
      </p:pic>
      <p:sp>
        <p:nvSpPr>
          <p:cNvPr id="12" name="icon-bg-601"/>
          <p:cNvSpPr/>
          <p:nvPr/>
        </p:nvSpPr>
        <p:spPr>
          <a:xfrm>
            <a:off x="6202375" y="5000625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con-602" descr="/tmp/claude-0/-home-user/472ad997-b1d8-52e7-b63c-66353a6ff570/scratchpad/deck/assets/icon-star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6675" y="5114925"/>
            <a:ext cx="228600" cy="228600"/>
          </a:xfrm>
          <a:prstGeom prst="rect">
            <a:avLst/>
          </a:prstGeom>
        </p:spPr>
      </p:pic>
      <p:sp>
        <p:nvSpPr>
          <p:cNvPr id="14" name="text-603"/>
          <p:cNvSpPr txBox="1"/>
          <p:nvPr/>
        </p:nvSpPr>
        <p:spPr>
          <a:xfrm>
            <a:off x="6796735" y="4973193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Claims desk</a:t>
            </a:r>
            <a:endParaRPr lang="en-US" sz="1500" dirty="0"/>
          </a:p>
        </p:txBody>
      </p:sp>
      <p:sp>
        <p:nvSpPr>
          <p:cNvPr id="15" name="text-604"/>
          <p:cNvSpPr txBox="1"/>
          <p:nvPr/>
        </p:nvSpPr>
        <p:spPr>
          <a:xfrm>
            <a:off x="6796735" y="5274945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Claims to review plus a live feed of trigger events from the engine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605"/>
          <p:cNvSpPr txBox="1"/>
          <p:nvPr/>
        </p:nvSpPr>
        <p:spPr>
          <a:xfrm>
            <a:off x="640080" y="20116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3" name="text-606"/>
          <p:cNvSpPr txBox="1"/>
          <p:nvPr/>
        </p:nvSpPr>
        <p:spPr>
          <a:xfrm>
            <a:off x="640080" y="31089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2400" dirty="0"/>
          </a:p>
        </p:txBody>
      </p:sp>
      <p:sp>
        <p:nvSpPr>
          <p:cNvPr id="4" name="text-607"/>
          <p:cNvSpPr txBox="1"/>
          <p:nvPr/>
        </p:nvSpPr>
        <p:spPr>
          <a:xfrm>
            <a:off x="640080" y="42062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Akshaya Chigullapally</a:t>
            </a:r>
            <a:endParaRPr lang="en-US" sz="2200" dirty="0"/>
          </a:p>
        </p:txBody>
      </p:sp>
      <p:sp>
        <p:nvSpPr>
          <p:cNvPr id="5" name="text-608"/>
          <p:cNvSpPr txBox="1"/>
          <p:nvPr/>
        </p:nvSpPr>
        <p:spPr>
          <a:xfrm>
            <a:off x="640080" y="4663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ClimateSure — Parametric Insurance Platform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imateSure Claret">
  <a:themeElements>
    <a:clrScheme name="ClimateSure Claret">
      <a:dk1>
        <a:srgbClr val="0E0A0C"/>
      </a:dk1>
      <a:lt1>
        <a:srgbClr val="FFFFFF"/>
      </a:lt1>
      <a:dk2>
        <a:srgbClr val="7A1131"/>
      </a:dk2>
      <a:lt2>
        <a:srgbClr val="FBEEF2"/>
      </a:lt2>
      <a:accent1>
        <a:srgbClr val="7A1131"/>
      </a:accent1>
      <a:accent2>
        <a:srgbClr val="D4267A"/>
      </a:accent2>
      <a:accent3>
        <a:srgbClr val="F2C6A8"/>
      </a:accent3>
      <a:accent4>
        <a:srgbClr val="3A0A1A"/>
      </a:accent4>
      <a:accent5>
        <a:srgbClr val="B5476A"/>
      </a:accent5>
      <a:accent6>
        <a:srgbClr val="6B5F63"/>
      </a:accent6>
      <a:hlink>
        <a:srgbClr val="D4267A"/>
      </a:hlink>
      <a:folHlink>
        <a:srgbClr val="7A1131"/>
      </a:folHlink>
    </a:clrScheme>
    <a:fontScheme name="ClimateSure Clare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ClimateSure - Parametric Insurance Platform</dc:title>
  <dc:subject>PptxGenJS Presentation</dc:subject>
  <dc:creator>Akshaya Chigullapally</dc:creator>
  <cp:lastModifiedBy>Akshaya Chigullapally</cp:lastModifiedBy>
  <cp:revision>1</cp:revision>
  <dcterms:created xsi:type="dcterms:W3CDTF">2026-10-10T13:14:31Z</dcterms:created>
  <dcterms:modified xsi:type="dcterms:W3CDTF">2026-10-10T13:14:31Z</dcterms:modified>
</cp:coreProperties>
</file>